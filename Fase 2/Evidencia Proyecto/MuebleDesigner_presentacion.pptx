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embeddedFontLst>
    <p:embeddedFont>
      <p:font typeface="Roboto Mono" panose="00000009000000000000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YEaGFjK8JMKft2fhdAEV16WM3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632DF8-8C34-41DC-A866-4BC4DA7AFF2D}">
  <a:tblStyle styleId="{1D632DF8-8C34-41DC-A866-4BC4DA7AFF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4C294D8-CC88-4592-8251-95597ED4E0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14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Completa integrantes, institución y fecha. Reemplaza el marco por el logotipo o una captura representativa del software.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Ajusta los bloques si cambias el orden de la presentación.</a:t>
            </a:r>
            <a:endParaRPr/>
          </a:p>
        </p:txBody>
      </p:sp>
      <p:sp>
        <p:nvSpPr>
          <p:cNvPr id="107" name="Google Shape;10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Confirma la descripción con el README del repositorio.</a:t>
            </a:r>
            <a:endParaRPr/>
          </a:p>
        </p:txBody>
      </p:sp>
      <p:sp>
        <p:nvSpPr>
          <p:cNvPr id="137" name="Google Shape;13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agregues funciones que no estén en el código. Una fila por función.</a:t>
            </a:r>
            <a:endParaRPr/>
          </a:p>
        </p:txBody>
      </p:sp>
      <p:sp>
        <p:nvSpPr>
          <p:cNvPr id="226" name="Google Shape;22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Toma los puntos del documento de innovación ya existente.</a:t>
            </a:r>
            <a:endParaRPr/>
          </a:p>
        </p:txBody>
      </p:sp>
      <p:sp>
        <p:nvSpPr>
          <p:cNvPr id="255" name="Google Shape;25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21 y JavaFX 21 provienen del encargo. Verifica el resto en pom.xml o build.gradle.</a:t>
            </a:r>
            <a:endParaRPr/>
          </a:p>
        </p:txBody>
      </p:sp>
      <p:sp>
        <p:nvSpPr>
          <p:cNvPr id="277" name="Google Shape;27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1300d3d7f86e8c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h1300d3d7f86e8c27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21 y JavaFX 21 provienen del encargo. Verifica el resto en pom.xml o build.gradle.</a:t>
            </a:r>
            <a:endParaRPr/>
          </a:p>
        </p:txBody>
      </p:sp>
      <p:sp>
        <p:nvSpPr>
          <p:cNvPr id="303" name="Google Shape;303;h1300d3d7f86e8c27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1300d3d7f86e8c2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h1300d3d7f86e8c27_0_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21 y JavaFX 21 provienen del encargo. Verifica el resto en pom.xml o build.gradle.</a:t>
            </a:r>
            <a:endParaRPr/>
          </a:p>
        </p:txBody>
      </p:sp>
      <p:sp>
        <p:nvSpPr>
          <p:cNvPr id="314" name="Google Shape;314;h1300d3d7f86e8c27_0_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6dbf1839c3548c5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h6dbf1839c3548c59_0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21 y JavaFX 21 provienen del encargo. Verifica el resto en pom.xml o build.gradle.</a:t>
            </a:r>
            <a:endParaRPr/>
          </a:p>
        </p:txBody>
      </p:sp>
      <p:sp>
        <p:nvSpPr>
          <p:cNvPr id="325" name="Google Shape;325;h6dbf1839c3548c59_0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6dbf1839c3548c5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h6dbf1839c3548c59_0_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21 y JavaFX 21 provienen del encargo. Verifica el resto en pom.xml o build.gradle.</a:t>
            </a:r>
            <a:endParaRPr/>
          </a:p>
        </p:txBody>
      </p:sp>
      <p:sp>
        <p:nvSpPr>
          <p:cNvPr id="340" name="Google Shape;340;h6dbf1839c3548c59_0_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 el diagrama existente sin redibujarlo.</a:t>
            </a:r>
            <a:endParaRPr/>
          </a:p>
        </p:txBody>
      </p:sp>
      <p:sp>
        <p:nvSpPr>
          <p:cNvPr id="351" name="Google Shape;35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1300d3d7f86e8c2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h1300d3d7f86e8c27_0_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21 y JavaFX 21 provienen del encargo. Verifica el resto en pom.xml o build.gradle.</a:t>
            </a:r>
            <a:endParaRPr/>
          </a:p>
        </p:txBody>
      </p:sp>
      <p:sp>
        <p:nvSpPr>
          <p:cNvPr id="375" name="Google Shape;375;h1300d3d7f86e8c27_0_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6dbf1839c3548c5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h6dbf1839c3548c5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6dbf1839c3548c5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h6dbf1839c3548c5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593a6a669a0036d1_1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h593a6a669a0036d1_1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 capturas reales del software en ejecución.</a:t>
            </a:r>
            <a:endParaRPr/>
          </a:p>
        </p:txBody>
      </p:sp>
      <p:sp>
        <p:nvSpPr>
          <p:cNvPr id="464" name="Google Shape;46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no hay evidencia, elimina esta diapositiva.</a:t>
            </a:r>
            <a:endParaRPr/>
          </a:p>
        </p:txBody>
      </p:sp>
      <p:sp>
        <p:nvSpPr>
          <p:cNvPr id="504" name="Google Shape;504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risBit/Maipu_Aldo_Martinez_006D_Tara_Martinez.gi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risBit/Maipu_Aldo_Martinez_006D_Tara_Martinez.gi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xfrm>
            <a:off x="640080" y="1417320"/>
            <a:ext cx="6126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s-MX" sz="6000" b="1" dirty="0" err="1">
                <a:solidFill>
                  <a:srgbClr val="FFFFFF"/>
                </a:solidFill>
              </a:rPr>
              <a:t>MuebleDesign</a:t>
            </a:r>
            <a:endParaRPr lang="es-MX"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640080" y="10972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PROYECTO DE SOFTWARE DE ESCRITORIO</a:t>
            </a:r>
            <a:endParaRPr lang="es-MX" dirty="0"/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26060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Aplicación de escritorio · Java 21 · </a:t>
            </a:r>
            <a:r>
              <a:rPr lang="es-MX" sz="2200" b="0" i="0" u="none" strike="noStrike" cap="none" dirty="0" err="1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JavaFX</a:t>
            </a:r>
            <a:r>
              <a:rPr lang="es-MX" sz="22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 21</a:t>
            </a:r>
            <a:endParaRPr lang="es-MX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3154680"/>
            <a:ext cx="594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i="1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Aplicación de escritorio para el diseño de muebles</a:t>
            </a:r>
            <a:endParaRPr lang="es-MX"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402336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lang="es-MX" dirty="0"/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4242816"/>
            <a:ext cx="594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-"/>
            </a:pPr>
            <a:r>
              <a:rPr lang="es-MX" sz="1800" i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Maximiliano Tara</a:t>
            </a: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-"/>
            </a:pPr>
            <a:r>
              <a:rPr lang="es-MX" sz="1800" i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Paris Martínez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640080" y="4931480"/>
            <a:ext cx="5943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lang="es-MX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640080" y="5150936"/>
            <a:ext cx="594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i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640080" y="5663000"/>
            <a:ext cx="5943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 lang="es-MX"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640080" y="5882456"/>
            <a:ext cx="594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i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de octubre de 2026</a:t>
            </a:r>
            <a:endParaRPr lang="es-MX" dirty="0"/>
          </a:p>
        </p:txBody>
      </p:sp>
      <p:cxnSp>
        <p:nvCxnSpPr>
          <p:cNvPr id="95" name="Google Shape;95;p1"/>
          <p:cNvCxnSpPr/>
          <p:nvPr/>
        </p:nvCxnSpPr>
        <p:spPr>
          <a:xfrm>
            <a:off x="6949440" y="1097280"/>
            <a:ext cx="274319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96" name="Google Shape;96;p1"/>
          <p:cNvCxnSpPr/>
          <p:nvPr/>
        </p:nvCxnSpPr>
        <p:spPr>
          <a:xfrm>
            <a:off x="6949440" y="1097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97" name="Google Shape;97;p1"/>
          <p:cNvCxnSpPr/>
          <p:nvPr/>
        </p:nvCxnSpPr>
        <p:spPr>
          <a:xfrm rot="10800000">
            <a:off x="11277295" y="1097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98" name="Google Shape;98;p1"/>
          <p:cNvCxnSpPr/>
          <p:nvPr/>
        </p:nvCxnSpPr>
        <p:spPr>
          <a:xfrm>
            <a:off x="11551615" y="1097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99" name="Google Shape;99;p1"/>
          <p:cNvCxnSpPr/>
          <p:nvPr/>
        </p:nvCxnSpPr>
        <p:spPr>
          <a:xfrm>
            <a:off x="6949440" y="5943600"/>
            <a:ext cx="274319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00" name="Google Shape;100;p1"/>
          <p:cNvCxnSpPr/>
          <p:nvPr/>
        </p:nvCxnSpPr>
        <p:spPr>
          <a:xfrm rot="10800000">
            <a:off x="6949440" y="5669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01" name="Google Shape;101;p1"/>
          <p:cNvCxnSpPr/>
          <p:nvPr/>
        </p:nvCxnSpPr>
        <p:spPr>
          <a:xfrm rot="10800000">
            <a:off x="11277295" y="594360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02" name="Google Shape;102;p1"/>
          <p:cNvCxnSpPr/>
          <p:nvPr/>
        </p:nvCxnSpPr>
        <p:spPr>
          <a:xfrm rot="10800000">
            <a:off x="11551615" y="5669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103" name="Google Shape;103;p1" descr="table icon vector. Isolated contour symbol illustration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264" y="1323177"/>
            <a:ext cx="4394552" cy="4394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Ruta de la presentación</a:t>
            </a:r>
            <a:endParaRPr lang="es-MX" dirty="0"/>
          </a:p>
        </p:txBody>
      </p:sp>
      <p:sp>
        <p:nvSpPr>
          <p:cNvPr id="110" name="Google Shape;110;p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lang="es-MX" dirty="0"/>
          </a:p>
        </p:txBody>
      </p:sp>
      <p:sp>
        <p:nvSpPr>
          <p:cNvPr id="111" name="Google Shape;111;p2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Cinco bloques: de la necesidad al cierre.</a:t>
            </a:r>
            <a:endParaRPr lang="es-MX" dirty="0"/>
          </a:p>
        </p:txBody>
      </p:sp>
      <p:sp>
        <p:nvSpPr>
          <p:cNvPr id="112" name="Google Shape;112;p2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113" name="Google Shape;113;p2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s-MX" dirty="0"/>
          </a:p>
        </p:txBody>
      </p:sp>
      <p:sp>
        <p:nvSpPr>
          <p:cNvPr id="114" name="Google Shape;114;p2"/>
          <p:cNvSpPr/>
          <p:nvPr/>
        </p:nvSpPr>
        <p:spPr>
          <a:xfrm>
            <a:off x="640080" y="2240280"/>
            <a:ext cx="2011643" cy="3840480"/>
          </a:xfrm>
          <a:prstGeom prst="roundRect">
            <a:avLst>
              <a:gd name="adj" fmla="val 5454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22959" y="2423160"/>
            <a:ext cx="16458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s-MX" dirty="0"/>
          </a:p>
        </p:txBody>
      </p:sp>
      <p:sp>
        <p:nvSpPr>
          <p:cNvPr id="116" name="Google Shape;116;p2"/>
          <p:cNvSpPr txBox="1"/>
          <p:nvPr/>
        </p:nvSpPr>
        <p:spPr>
          <a:xfrm>
            <a:off x="822959" y="2926080"/>
            <a:ext cx="164588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lang="es-MX" dirty="0"/>
          </a:p>
        </p:txBody>
      </p:sp>
      <p:sp>
        <p:nvSpPr>
          <p:cNvPr id="117" name="Google Shape;117;p2"/>
          <p:cNvSpPr txBox="1"/>
          <p:nvPr/>
        </p:nvSpPr>
        <p:spPr>
          <a:xfrm>
            <a:off x="822959" y="3657600"/>
            <a:ext cx="1645883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lang="es-MX" dirty="0"/>
          </a:p>
        </p:txBody>
      </p:sp>
      <p:sp>
        <p:nvSpPr>
          <p:cNvPr id="118" name="Google Shape;118;p2"/>
          <p:cNvSpPr/>
          <p:nvPr/>
        </p:nvSpPr>
        <p:spPr>
          <a:xfrm>
            <a:off x="2865052" y="2240280"/>
            <a:ext cx="2011643" cy="3840480"/>
          </a:xfrm>
          <a:prstGeom prst="roundRect">
            <a:avLst>
              <a:gd name="adj" fmla="val 5454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3047932" y="2423160"/>
            <a:ext cx="16458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s-MX" dirty="0"/>
          </a:p>
        </p:txBody>
      </p:sp>
      <p:sp>
        <p:nvSpPr>
          <p:cNvPr id="120" name="Google Shape;120;p2"/>
          <p:cNvSpPr txBox="1"/>
          <p:nvPr/>
        </p:nvSpPr>
        <p:spPr>
          <a:xfrm>
            <a:off x="3047932" y="2926080"/>
            <a:ext cx="164588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lang="es-MX" dirty="0"/>
          </a:p>
        </p:txBody>
      </p:sp>
      <p:sp>
        <p:nvSpPr>
          <p:cNvPr id="121" name="Google Shape;121;p2"/>
          <p:cNvSpPr txBox="1"/>
          <p:nvPr/>
        </p:nvSpPr>
        <p:spPr>
          <a:xfrm>
            <a:off x="3047932" y="3657600"/>
            <a:ext cx="1645883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Funcionalidades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Innovación</a:t>
            </a:r>
            <a:endParaRPr lang="es-MX" dirty="0"/>
          </a:p>
        </p:txBody>
      </p:sp>
      <p:sp>
        <p:nvSpPr>
          <p:cNvPr id="122" name="Google Shape;122;p2"/>
          <p:cNvSpPr/>
          <p:nvPr/>
        </p:nvSpPr>
        <p:spPr>
          <a:xfrm>
            <a:off x="5090025" y="2240280"/>
            <a:ext cx="2011643" cy="3840480"/>
          </a:xfrm>
          <a:prstGeom prst="roundRect">
            <a:avLst>
              <a:gd name="adj" fmla="val 5454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272905" y="2423160"/>
            <a:ext cx="16458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s-MX"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5272905" y="2926080"/>
            <a:ext cx="164588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técnico</a:t>
            </a:r>
            <a:endParaRPr lang="es-MX" dirty="0"/>
          </a:p>
        </p:txBody>
      </p:sp>
      <p:sp>
        <p:nvSpPr>
          <p:cNvPr id="125" name="Google Shape;125;p2"/>
          <p:cNvSpPr txBox="1"/>
          <p:nvPr/>
        </p:nvSpPr>
        <p:spPr>
          <a:xfrm>
            <a:off x="5272905" y="3657600"/>
            <a:ext cx="1645883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Clases</a:t>
            </a:r>
            <a:endParaRPr lang="es-MX" dirty="0"/>
          </a:p>
        </p:txBody>
      </p:sp>
      <p:sp>
        <p:nvSpPr>
          <p:cNvPr id="126" name="Google Shape;126;p2"/>
          <p:cNvSpPr/>
          <p:nvPr/>
        </p:nvSpPr>
        <p:spPr>
          <a:xfrm>
            <a:off x="7314998" y="2240280"/>
            <a:ext cx="2011643" cy="3840480"/>
          </a:xfrm>
          <a:prstGeom prst="roundRect">
            <a:avLst>
              <a:gd name="adj" fmla="val 5454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497878" y="2423160"/>
            <a:ext cx="16458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lang="es-MX" dirty="0"/>
          </a:p>
        </p:txBody>
      </p:sp>
      <p:sp>
        <p:nvSpPr>
          <p:cNvPr id="128" name="Google Shape;128;p2"/>
          <p:cNvSpPr txBox="1"/>
          <p:nvPr/>
        </p:nvSpPr>
        <p:spPr>
          <a:xfrm>
            <a:off x="7497878" y="2926080"/>
            <a:ext cx="164588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 y evidencias</a:t>
            </a:r>
            <a:endParaRPr lang="es-MX" dirty="0"/>
          </a:p>
        </p:txBody>
      </p:sp>
      <p:sp>
        <p:nvSpPr>
          <p:cNvPr id="129" name="Google Shape;129;p2"/>
          <p:cNvSpPr txBox="1"/>
          <p:nvPr/>
        </p:nvSpPr>
        <p:spPr>
          <a:xfrm>
            <a:off x="7497878" y="3657600"/>
            <a:ext cx="16458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Repositorio</a:t>
            </a:r>
            <a:endParaRPr lang="es-MX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Validaciones</a:t>
            </a:r>
            <a:endParaRPr lang="es-MX" dirty="0"/>
          </a:p>
        </p:txBody>
      </p:sp>
      <p:sp>
        <p:nvSpPr>
          <p:cNvPr id="130" name="Google Shape;130;p2"/>
          <p:cNvSpPr/>
          <p:nvPr/>
        </p:nvSpPr>
        <p:spPr>
          <a:xfrm>
            <a:off x="9539971" y="2240280"/>
            <a:ext cx="2011643" cy="3840480"/>
          </a:xfrm>
          <a:prstGeom prst="roundRect">
            <a:avLst>
              <a:gd name="adj" fmla="val 5454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9722851" y="2423160"/>
            <a:ext cx="16458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lang="es-MX" dirty="0"/>
          </a:p>
        </p:txBody>
      </p:sp>
      <p:sp>
        <p:nvSpPr>
          <p:cNvPr id="132" name="Google Shape;132;p2"/>
          <p:cNvSpPr txBox="1"/>
          <p:nvPr/>
        </p:nvSpPr>
        <p:spPr>
          <a:xfrm>
            <a:off x="9722851" y="2926080"/>
            <a:ext cx="164588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lang="es-MX" dirty="0"/>
          </a:p>
        </p:txBody>
      </p:sp>
      <p:sp>
        <p:nvSpPr>
          <p:cNvPr id="133" name="Google Shape;133;p2"/>
          <p:cNvSpPr txBox="1"/>
          <p:nvPr/>
        </p:nvSpPr>
        <p:spPr>
          <a:xfrm>
            <a:off x="9722851" y="3657600"/>
            <a:ext cx="1645883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lang="es-MX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Introducción y descripción del proyecto</a:t>
            </a:r>
            <a:endParaRPr lang="es-MX" dirty="0"/>
          </a:p>
        </p:txBody>
      </p:sp>
      <p:sp>
        <p:nvSpPr>
          <p:cNvPr id="140" name="Google Shape;140;p3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01 · CONTEXTO</a:t>
            </a:r>
            <a:endParaRPr lang="es-MX" dirty="0"/>
          </a:p>
        </p:txBody>
      </p:sp>
      <p:sp>
        <p:nvSpPr>
          <p:cNvPr id="141" name="Google Shape;141;p3"/>
          <p:cNvSpPr txBox="1"/>
          <p:nvPr/>
        </p:nvSpPr>
        <p:spPr>
          <a:xfrm>
            <a:off x="640080" y="1417320"/>
            <a:ext cx="1091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 err="1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MuebleDesign</a:t>
            </a:r>
            <a:r>
              <a:rPr lang="es-MX" sz="18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 es una aplicación de escritorio desarrollada con Java 21 y </a:t>
            </a:r>
            <a:r>
              <a:rPr lang="es-MX" sz="1800" b="0" i="0" u="none" strike="noStrike" cap="none" dirty="0" err="1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JavaFX</a:t>
            </a:r>
            <a:r>
              <a:rPr lang="es-MX" sz="18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 21.</a:t>
            </a:r>
            <a:endParaRPr lang="es-MX" dirty="0"/>
          </a:p>
        </p:txBody>
      </p:sp>
      <p:sp>
        <p:nvSpPr>
          <p:cNvPr id="142" name="Google Shape;142;p3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143" name="Google Shape;143;p3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s-MX" dirty="0"/>
          </a:p>
        </p:txBody>
      </p:sp>
      <p:sp>
        <p:nvSpPr>
          <p:cNvPr id="144" name="Google Shape;144;p3"/>
          <p:cNvSpPr/>
          <p:nvPr/>
        </p:nvSpPr>
        <p:spPr>
          <a:xfrm>
            <a:off x="640080" y="224028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914325" y="2283330"/>
            <a:ext cx="4755000" cy="3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D3EE"/>
              </a:buClr>
              <a:buSzPts val="1800"/>
              <a:buChar char="•"/>
            </a:pPr>
            <a:r>
              <a:rPr lang="es-MX" sz="1800" i="1" dirty="0" err="1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MuebleDesign</a:t>
            </a: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 es una aplicación de escritorio orientada al diseño y modelado de muebles, que permite trabajar con piezas, dimensiones y estructuras de mobiliario.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800"/>
              <a:buFont typeface="Calibri"/>
              <a:buChar char="•"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Personas que necesitan diseñar y organizar estructuras de muebles mediante una herramienta digital.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800"/>
              <a:buFont typeface="Calibri"/>
              <a:buChar char="•"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Aplicación de escritorio desarrollada en Java 21 y </a:t>
            </a:r>
            <a:r>
              <a:rPr lang="es-MX" sz="1800" i="1" dirty="0" err="1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JavaFX</a:t>
            </a: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 21, centrada en el diseño y la interacción con elementos del mobiliario.</a:t>
            </a:r>
          </a:p>
        </p:txBody>
      </p:sp>
      <p:sp>
        <p:nvSpPr>
          <p:cNvPr id="146" name="Google Shape;146;p3"/>
          <p:cNvSpPr/>
          <p:nvPr/>
        </p:nvSpPr>
        <p:spPr>
          <a:xfrm>
            <a:off x="6309360" y="2240280"/>
            <a:ext cx="5242255" cy="3840480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[Insertar imagen]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Logotipo, render o vista general del sistema</a:t>
            </a:r>
            <a:endParaRPr lang="es-MX" dirty="0"/>
          </a:p>
        </p:txBody>
      </p:sp>
      <p:cxnSp>
        <p:nvCxnSpPr>
          <p:cNvPr id="147" name="Google Shape;147;p3"/>
          <p:cNvCxnSpPr/>
          <p:nvPr/>
        </p:nvCxnSpPr>
        <p:spPr>
          <a:xfrm>
            <a:off x="630936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48" name="Google Shape;148;p3"/>
          <p:cNvCxnSpPr/>
          <p:nvPr/>
        </p:nvCxnSpPr>
        <p:spPr>
          <a:xfrm>
            <a:off x="630936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49" name="Google Shape;149;p3"/>
          <p:cNvCxnSpPr/>
          <p:nvPr/>
        </p:nvCxnSpPr>
        <p:spPr>
          <a:xfrm rot="10800000">
            <a:off x="1127729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0" name="Google Shape;150;p3"/>
          <p:cNvCxnSpPr/>
          <p:nvPr/>
        </p:nvCxnSpPr>
        <p:spPr>
          <a:xfrm>
            <a:off x="1155161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1" name="Google Shape;151;p3"/>
          <p:cNvCxnSpPr/>
          <p:nvPr/>
        </p:nvCxnSpPr>
        <p:spPr>
          <a:xfrm>
            <a:off x="630936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2" name="Google Shape;152;p3"/>
          <p:cNvCxnSpPr/>
          <p:nvPr/>
        </p:nvCxnSpPr>
        <p:spPr>
          <a:xfrm rot="10800000">
            <a:off x="630936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3" name="Google Shape;153;p3"/>
          <p:cNvCxnSpPr/>
          <p:nvPr/>
        </p:nvCxnSpPr>
        <p:spPr>
          <a:xfrm rot="10800000">
            <a:off x="1127729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 rot="10800000">
            <a:off x="1155161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155" name="Google Shape;155;p3" descr="Happy boy with father in workshop stock photo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2750" y="2240275"/>
            <a:ext cx="5762068" cy="38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identificado y necesidad</a:t>
            </a:r>
            <a:endParaRPr lang="es-MX" dirty="0"/>
          </a:p>
        </p:txBody>
      </p:sp>
      <p:sp>
        <p:nvSpPr>
          <p:cNvPr id="161" name="Google Shape;161;p4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01 · CONTEXTO</a:t>
            </a:r>
            <a:endParaRPr lang="es-MX" dirty="0"/>
          </a:p>
        </p:txBody>
      </p:sp>
      <p:sp>
        <p:nvSpPr>
          <p:cNvPr id="162" name="Google Shape;162;p4"/>
          <p:cNvSpPr txBox="1"/>
          <p:nvPr/>
        </p:nvSpPr>
        <p:spPr>
          <a:xfrm>
            <a:off x="640080" y="1417320"/>
            <a:ext cx="109116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El diseño de muebles requiere una herramienta que facilite la representación y manipulación de sus piezas y estructuras.</a:t>
            </a: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164" name="Google Shape;164;p4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s-MX" dirty="0"/>
          </a:p>
        </p:txBody>
      </p:sp>
      <p:sp>
        <p:nvSpPr>
          <p:cNvPr id="165" name="Google Shape;165;p4"/>
          <p:cNvSpPr/>
          <p:nvPr/>
        </p:nvSpPr>
        <p:spPr>
          <a:xfrm>
            <a:off x="6248095" y="2240279"/>
            <a:ext cx="5303520" cy="4233671"/>
          </a:xfrm>
          <a:prstGeom prst="roundRect">
            <a:avLst>
              <a:gd name="adj" fmla="val 2857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5968573" y="2087490"/>
            <a:ext cx="5521776" cy="429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D3EE"/>
              </a:buClr>
              <a:buSzPts val="18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El diseño puede depender de dibujos manuales o herramientas que no se ajustan a las necesidades específicas del usuario.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800"/>
              <a:buFont typeface="Calibri"/>
              <a:buChar char="•"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Dificultad para visualizar las relaciones entre las piezas.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Necesidad de organizar las dimensiones y la estructura del mueble.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Falta de una herramienta adaptada al flujo de diseño propuesto.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de escritorio que facilite el diseño y la organización de estructuras de mobiliario.</a:t>
            </a:r>
          </a:p>
        </p:txBody>
      </p:sp>
      <p:sp>
        <p:nvSpPr>
          <p:cNvPr id="167" name="Google Shape;167;p4"/>
          <p:cNvSpPr/>
          <p:nvPr/>
        </p:nvSpPr>
        <p:spPr>
          <a:xfrm>
            <a:off x="640080" y="2240280"/>
            <a:ext cx="5242255" cy="3840480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[Insertar imagen]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Imagen o esquema de la situación actual</a:t>
            </a:r>
            <a:endParaRPr lang="es-MX" dirty="0"/>
          </a:p>
        </p:txBody>
      </p:sp>
      <p:cxnSp>
        <p:nvCxnSpPr>
          <p:cNvPr id="168" name="Google Shape;168;p4"/>
          <p:cNvCxnSpPr/>
          <p:nvPr/>
        </p:nvCxnSpPr>
        <p:spPr>
          <a:xfrm>
            <a:off x="64008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69" name="Google Shape;169;p4"/>
          <p:cNvCxnSpPr/>
          <p:nvPr/>
        </p:nvCxnSpPr>
        <p:spPr>
          <a:xfrm>
            <a:off x="64008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0" name="Google Shape;170;p4"/>
          <p:cNvCxnSpPr/>
          <p:nvPr/>
        </p:nvCxnSpPr>
        <p:spPr>
          <a:xfrm rot="10800000">
            <a:off x="560801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1" name="Google Shape;171;p4"/>
          <p:cNvCxnSpPr/>
          <p:nvPr/>
        </p:nvCxnSpPr>
        <p:spPr>
          <a:xfrm>
            <a:off x="588233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2" name="Google Shape;172;p4"/>
          <p:cNvCxnSpPr/>
          <p:nvPr/>
        </p:nvCxnSpPr>
        <p:spPr>
          <a:xfrm>
            <a:off x="64008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3" name="Google Shape;173;p4"/>
          <p:cNvCxnSpPr/>
          <p:nvPr/>
        </p:nvCxnSpPr>
        <p:spPr>
          <a:xfrm rot="10800000">
            <a:off x="64008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4" name="Google Shape;174;p4"/>
          <p:cNvCxnSpPr/>
          <p:nvPr/>
        </p:nvCxnSpPr>
        <p:spPr>
          <a:xfrm rot="10800000">
            <a:off x="560801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75" name="Google Shape;175;p4"/>
          <p:cNvCxnSpPr/>
          <p:nvPr/>
        </p:nvCxnSpPr>
        <p:spPr>
          <a:xfrm rot="10800000">
            <a:off x="588233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176" name="Google Shape;176;p4" descr="Man staring at blank piece of paper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75" y="2240275"/>
            <a:ext cx="5770563" cy="384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lang="es-MX" dirty="0"/>
          </a:p>
        </p:txBody>
      </p:sp>
      <p:sp>
        <p:nvSpPr>
          <p:cNvPr id="182" name="Google Shape;182;p5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01 · CONTEXTO</a:t>
            </a:r>
            <a:endParaRPr lang="es-MX" dirty="0"/>
          </a:p>
        </p:txBody>
      </p:sp>
      <p:sp>
        <p:nvSpPr>
          <p:cNvPr id="183" name="Google Shape;183;p5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Un objetivo general y los objetivos específicos que lo hacen alcanzable.</a:t>
            </a:r>
            <a:endParaRPr lang="es-MX" dirty="0"/>
          </a:p>
        </p:txBody>
      </p:sp>
      <p:sp>
        <p:nvSpPr>
          <p:cNvPr id="184" name="Google Shape;184;p5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185" name="Google Shape;185;p5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s-MX" dirty="0"/>
          </a:p>
        </p:txBody>
      </p:sp>
      <p:sp>
        <p:nvSpPr>
          <p:cNvPr id="186" name="Google Shape;186;p5"/>
          <p:cNvSpPr/>
          <p:nvPr/>
        </p:nvSpPr>
        <p:spPr>
          <a:xfrm>
            <a:off x="640080" y="2240280"/>
            <a:ext cx="6675120" cy="1828800"/>
          </a:xfrm>
          <a:prstGeom prst="roundRect">
            <a:avLst>
              <a:gd name="adj" fmla="val 6000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868680" y="2377440"/>
            <a:ext cx="18288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lang="es-MX" dirty="0"/>
          </a:p>
        </p:txBody>
      </p:sp>
      <p:sp>
        <p:nvSpPr>
          <p:cNvPr id="188" name="Google Shape;188;p5"/>
          <p:cNvSpPr txBox="1"/>
          <p:nvPr/>
        </p:nvSpPr>
        <p:spPr>
          <a:xfrm>
            <a:off x="2926143" y="2837190"/>
            <a:ext cx="4160400" cy="1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de escritorio que facilite el diseño y modelado de muebles mediante herramientas digitales.</a:t>
            </a: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40080" y="4251960"/>
            <a:ext cx="6675120" cy="1828800"/>
          </a:xfrm>
          <a:prstGeom prst="roundRect">
            <a:avLst>
              <a:gd name="adj" fmla="val 6000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868680" y="4389120"/>
            <a:ext cx="18288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lang="es-MX" dirty="0"/>
          </a:p>
        </p:txBody>
      </p:sp>
      <p:sp>
        <p:nvSpPr>
          <p:cNvPr id="191" name="Google Shape;191;p5"/>
          <p:cNvSpPr txBox="1"/>
          <p:nvPr/>
        </p:nvSpPr>
        <p:spPr>
          <a:xfrm>
            <a:off x="2895494" y="4238238"/>
            <a:ext cx="41604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2E8F0"/>
              </a:buClr>
              <a:buSzPts val="1100"/>
              <a:buAutoNum type="arabicPeriod"/>
            </a:pPr>
            <a:r>
              <a:rPr lang="es-MX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Implementar una interfaz gráfica para interactuar con el diseño de mobiliario.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AutoNum type="arabicPeriod"/>
            </a:pPr>
            <a:r>
              <a:rPr lang="es-MX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Desarrollar las clases y componentes necesarios para representar las piezas y sus relaciones.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AutoNum type="arabicPeriod"/>
            </a:pPr>
            <a:r>
              <a:rPr lang="es-MX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Incorporar funcionalidades que permitan manipular los elementos del diseño según el alcance del sistema.</a:t>
            </a: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635240" y="2240280"/>
            <a:ext cx="3916375" cy="3840480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[Insertar imagen]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Esquema o imagen de apoyo</a:t>
            </a:r>
            <a:endParaRPr lang="es-MX" dirty="0"/>
          </a:p>
        </p:txBody>
      </p:sp>
      <p:cxnSp>
        <p:nvCxnSpPr>
          <p:cNvPr id="193" name="Google Shape;193;p5"/>
          <p:cNvCxnSpPr/>
          <p:nvPr/>
        </p:nvCxnSpPr>
        <p:spPr>
          <a:xfrm>
            <a:off x="763524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4" name="Google Shape;194;p5"/>
          <p:cNvCxnSpPr/>
          <p:nvPr/>
        </p:nvCxnSpPr>
        <p:spPr>
          <a:xfrm>
            <a:off x="763524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5" name="Google Shape;195;p5"/>
          <p:cNvCxnSpPr/>
          <p:nvPr/>
        </p:nvCxnSpPr>
        <p:spPr>
          <a:xfrm rot="10800000">
            <a:off x="1127729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6" name="Google Shape;196;p5"/>
          <p:cNvCxnSpPr/>
          <p:nvPr/>
        </p:nvCxnSpPr>
        <p:spPr>
          <a:xfrm>
            <a:off x="1155161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7" name="Google Shape;197;p5"/>
          <p:cNvCxnSpPr/>
          <p:nvPr/>
        </p:nvCxnSpPr>
        <p:spPr>
          <a:xfrm>
            <a:off x="763524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8" name="Google Shape;198;p5"/>
          <p:cNvCxnSpPr/>
          <p:nvPr/>
        </p:nvCxnSpPr>
        <p:spPr>
          <a:xfrm rot="10800000">
            <a:off x="763524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9" name="Google Shape;199;p5"/>
          <p:cNvCxnSpPr/>
          <p:nvPr/>
        </p:nvCxnSpPr>
        <p:spPr>
          <a:xfrm rot="10800000">
            <a:off x="1127729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00" name="Google Shape;200;p5"/>
          <p:cNvCxnSpPr/>
          <p:nvPr/>
        </p:nvCxnSpPr>
        <p:spPr>
          <a:xfrm rot="10800000">
            <a:off x="1155161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201" name="Google Shape;201;p5" descr="Programmers working with they computer and tablet in modern office.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7225" y="2253988"/>
            <a:ext cx="4312428" cy="384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lang="es-MX" dirty="0"/>
          </a:p>
        </p:txBody>
      </p:sp>
      <p:sp>
        <p:nvSpPr>
          <p:cNvPr id="207" name="Google Shape;207;p6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 · SOLUCIÓN</a:t>
            </a:r>
            <a:endParaRPr lang="es-MX" dirty="0"/>
          </a:p>
        </p:txBody>
      </p:sp>
      <p:sp>
        <p:nvSpPr>
          <p:cNvPr id="208" name="Google Shape;208;p6"/>
          <p:cNvSpPr txBox="1"/>
          <p:nvPr/>
        </p:nvSpPr>
        <p:spPr>
          <a:xfrm>
            <a:off x="640080" y="1417320"/>
            <a:ext cx="10911600" cy="122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800" i="1" dirty="0" err="1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MuebleDesign</a:t>
            </a: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 ofrece un entorno de escritorio para diseñar y manipular estructuras de mobiliario mediante una interfaz gráfica.</a:t>
            </a: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210" name="Google Shape;210;p6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s-MX" dirty="0"/>
          </a:p>
        </p:txBody>
      </p:sp>
      <p:sp>
        <p:nvSpPr>
          <p:cNvPr id="211" name="Google Shape;211;p6"/>
          <p:cNvSpPr/>
          <p:nvPr/>
        </p:nvSpPr>
        <p:spPr>
          <a:xfrm>
            <a:off x="640080" y="224028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914400" y="2468880"/>
            <a:ext cx="4755000" cy="23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D3EE"/>
              </a:buClr>
              <a:buSzPts val="18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Selección y configuración de elementos → interacción con el diseño → visualización del resultado.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800"/>
              <a:buFont typeface="Calibri"/>
              <a:buChar char="•"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Char char="•"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Facilitar la organización y representación digital de las piezas que componen un mueble.</a:t>
            </a:r>
          </a:p>
          <a:p>
            <a:pPr marL="45720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309360" y="2240280"/>
            <a:ext cx="5242255" cy="3840480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[Insertar imagen]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Esquema del flujo de uso</a:t>
            </a:r>
            <a:endParaRPr lang="es-MX" dirty="0"/>
          </a:p>
        </p:txBody>
      </p:sp>
      <p:cxnSp>
        <p:nvCxnSpPr>
          <p:cNvPr id="214" name="Google Shape;214;p6"/>
          <p:cNvCxnSpPr/>
          <p:nvPr/>
        </p:nvCxnSpPr>
        <p:spPr>
          <a:xfrm>
            <a:off x="630936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15" name="Google Shape;215;p6"/>
          <p:cNvCxnSpPr/>
          <p:nvPr/>
        </p:nvCxnSpPr>
        <p:spPr>
          <a:xfrm>
            <a:off x="630936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16" name="Google Shape;216;p6"/>
          <p:cNvCxnSpPr/>
          <p:nvPr/>
        </p:nvCxnSpPr>
        <p:spPr>
          <a:xfrm rot="10800000">
            <a:off x="1127729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17" name="Google Shape;217;p6"/>
          <p:cNvCxnSpPr/>
          <p:nvPr/>
        </p:nvCxnSpPr>
        <p:spPr>
          <a:xfrm>
            <a:off x="1155161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18" name="Google Shape;218;p6"/>
          <p:cNvCxnSpPr/>
          <p:nvPr/>
        </p:nvCxnSpPr>
        <p:spPr>
          <a:xfrm>
            <a:off x="630936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19" name="Google Shape;219;p6"/>
          <p:cNvCxnSpPr/>
          <p:nvPr/>
        </p:nvCxnSpPr>
        <p:spPr>
          <a:xfrm rot="10800000">
            <a:off x="630936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20" name="Google Shape;220;p6"/>
          <p:cNvCxnSpPr/>
          <p:nvPr/>
        </p:nvCxnSpPr>
        <p:spPr>
          <a:xfrm rot="10800000">
            <a:off x="1127729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21" name="Google Shape;221;p6"/>
          <p:cNvCxnSpPr/>
          <p:nvPr/>
        </p:nvCxnSpPr>
        <p:spPr>
          <a:xfrm rot="10800000">
            <a:off x="1155161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222" name="Google Shape;222;p6" descr="Man assembling kitchen cupboard using screwdriver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078" y="2186250"/>
            <a:ext cx="5924250" cy="394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Funcionalidades principales verificadas</a:t>
            </a:r>
            <a:endParaRPr lang="es-MX" dirty="0"/>
          </a:p>
        </p:txBody>
      </p:sp>
      <p:sp>
        <p:nvSpPr>
          <p:cNvPr id="229" name="Google Shape;229;p7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 · SOLUCIÓN</a:t>
            </a:r>
            <a:endParaRPr lang="es-MX" dirty="0"/>
          </a:p>
        </p:txBody>
      </p:sp>
      <p:sp>
        <p:nvSpPr>
          <p:cNvPr id="230" name="Google Shape;230;p7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Solo se listan funciones comprobadas en el código fuente.</a:t>
            </a:r>
            <a:endParaRPr lang="es-MX" dirty="0"/>
          </a:p>
        </p:txBody>
      </p:sp>
      <p:sp>
        <p:nvSpPr>
          <p:cNvPr id="231" name="Google Shape;231;p7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232" name="Google Shape;232;p7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s-MX" dirty="0"/>
          </a:p>
        </p:txBody>
      </p:sp>
      <p:sp>
        <p:nvSpPr>
          <p:cNvPr id="233" name="Google Shape;233;p7"/>
          <p:cNvSpPr/>
          <p:nvPr/>
        </p:nvSpPr>
        <p:spPr>
          <a:xfrm>
            <a:off x="640076" y="2240275"/>
            <a:ext cx="5910300" cy="1158300"/>
          </a:xfrm>
          <a:prstGeom prst="roundRect">
            <a:avLst>
              <a:gd name="adj" fmla="val 9473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868680" y="2377440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1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Gestión de piezas </a:t>
            </a:r>
            <a:endParaRPr lang="es-MX" dirty="0"/>
          </a:p>
        </p:txBody>
      </p:sp>
      <p:sp>
        <p:nvSpPr>
          <p:cNvPr id="235" name="Google Shape;235;p7"/>
          <p:cNvSpPr txBox="1"/>
          <p:nvPr/>
        </p:nvSpPr>
        <p:spPr>
          <a:xfrm>
            <a:off x="2373600" y="2437375"/>
            <a:ext cx="2647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Datos y estado de cada pieza </a:t>
            </a:r>
            <a:endParaRPr lang="es-MX" dirty="0"/>
          </a:p>
        </p:txBody>
      </p:sp>
      <p:sp>
        <p:nvSpPr>
          <p:cNvPr id="236" name="Google Shape;236;p7"/>
          <p:cNvSpPr/>
          <p:nvPr/>
        </p:nvSpPr>
        <p:spPr>
          <a:xfrm>
            <a:off x="640076" y="3581400"/>
            <a:ext cx="5910300" cy="1158300"/>
          </a:xfrm>
          <a:prstGeom prst="roundRect">
            <a:avLst>
              <a:gd name="adj" fmla="val 9473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868680" y="3718560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1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Conexiones </a:t>
            </a:r>
            <a:endParaRPr lang="es-MX" dirty="0"/>
          </a:p>
        </p:txBody>
      </p:sp>
      <p:sp>
        <p:nvSpPr>
          <p:cNvPr id="238" name="Google Shape;238;p7"/>
          <p:cNvSpPr txBox="1"/>
          <p:nvPr/>
        </p:nvSpPr>
        <p:spPr>
          <a:xfrm>
            <a:off x="2926076" y="3718550"/>
            <a:ext cx="3335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Representación de relaciones entre elementos </a:t>
            </a:r>
            <a:endParaRPr lang="es-MX" dirty="0"/>
          </a:p>
        </p:txBody>
      </p:sp>
      <p:sp>
        <p:nvSpPr>
          <p:cNvPr id="239" name="Google Shape;239;p7"/>
          <p:cNvSpPr/>
          <p:nvPr/>
        </p:nvSpPr>
        <p:spPr>
          <a:xfrm>
            <a:off x="640076" y="4922525"/>
            <a:ext cx="5910300" cy="1158300"/>
          </a:xfrm>
          <a:prstGeom prst="roundRect">
            <a:avLst>
              <a:gd name="adj" fmla="val 9473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68680" y="5059680"/>
            <a:ext cx="182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1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Movimiento de grupos</a:t>
            </a:r>
            <a:endParaRPr lang="es-MX" dirty="0"/>
          </a:p>
        </p:txBody>
      </p:sp>
      <p:sp>
        <p:nvSpPr>
          <p:cNvPr id="241" name="Google Shape;241;p7"/>
          <p:cNvSpPr txBox="1"/>
          <p:nvPr/>
        </p:nvSpPr>
        <p:spPr>
          <a:xfrm>
            <a:off x="2926076" y="5059675"/>
            <a:ext cx="2975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Interacción con conjuntos de elementos.</a:t>
            </a: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635240" y="2240280"/>
            <a:ext cx="3916375" cy="3840480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cxnSp>
        <p:nvCxnSpPr>
          <p:cNvPr id="243" name="Google Shape;243;p7"/>
          <p:cNvCxnSpPr/>
          <p:nvPr/>
        </p:nvCxnSpPr>
        <p:spPr>
          <a:xfrm>
            <a:off x="763524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4" name="Google Shape;244;p7"/>
          <p:cNvCxnSpPr/>
          <p:nvPr/>
        </p:nvCxnSpPr>
        <p:spPr>
          <a:xfrm>
            <a:off x="763524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5" name="Google Shape;245;p7"/>
          <p:cNvCxnSpPr/>
          <p:nvPr/>
        </p:nvCxnSpPr>
        <p:spPr>
          <a:xfrm rot="10800000">
            <a:off x="1127729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6" name="Google Shape;246;p7"/>
          <p:cNvCxnSpPr/>
          <p:nvPr/>
        </p:nvCxnSpPr>
        <p:spPr>
          <a:xfrm>
            <a:off x="1155161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7" name="Google Shape;247;p7"/>
          <p:cNvCxnSpPr/>
          <p:nvPr/>
        </p:nvCxnSpPr>
        <p:spPr>
          <a:xfrm>
            <a:off x="763524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8" name="Google Shape;248;p7"/>
          <p:cNvCxnSpPr/>
          <p:nvPr/>
        </p:nvCxnSpPr>
        <p:spPr>
          <a:xfrm rot="10800000">
            <a:off x="763524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9" name="Google Shape;249;p7"/>
          <p:cNvCxnSpPr/>
          <p:nvPr/>
        </p:nvCxnSpPr>
        <p:spPr>
          <a:xfrm rot="10800000">
            <a:off x="1127729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50" name="Google Shape;250;p7"/>
          <p:cNvCxnSpPr/>
          <p:nvPr/>
        </p:nvCxnSpPr>
        <p:spPr>
          <a:xfrm rot="10800000">
            <a:off x="1155161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251" name="Google Shape;251;p7" title="Captura de pantalla 2026-10-12 2145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325" y="2377400"/>
            <a:ext cx="5041517" cy="3566225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Innovación y elementos diferenciadores</a:t>
            </a:r>
            <a:endParaRPr lang="es-MX" dirty="0"/>
          </a:p>
        </p:txBody>
      </p:sp>
      <p:sp>
        <p:nvSpPr>
          <p:cNvPr id="258" name="Google Shape;258;p8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 · SOLUCIÓN</a:t>
            </a:r>
            <a:endParaRPr lang="es-MX" dirty="0"/>
          </a:p>
        </p:txBody>
      </p:sp>
      <p:sp>
        <p:nvSpPr>
          <p:cNvPr id="259" name="Google Shape;259;p8"/>
          <p:cNvSpPr txBox="1"/>
          <p:nvPr/>
        </p:nvSpPr>
        <p:spPr>
          <a:xfrm>
            <a:off x="640080" y="1417320"/>
            <a:ext cx="1091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260" name="Google Shape;260;p8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261" name="Google Shape;261;p8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s-MX" dirty="0"/>
          </a:p>
        </p:txBody>
      </p:sp>
      <p:sp>
        <p:nvSpPr>
          <p:cNvPr id="262" name="Google Shape;262;p8"/>
          <p:cNvSpPr/>
          <p:nvPr/>
        </p:nvSpPr>
        <p:spPr>
          <a:xfrm>
            <a:off x="6248095" y="224028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6522352" y="2240280"/>
            <a:ext cx="4755000" cy="38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s-MX" b="1" dirty="0">
                <a:solidFill>
                  <a:schemeClr val="lt1"/>
                </a:solidFill>
              </a:rPr>
              <a:t>1. ¿Qué problema resuelve? Facilita el diseño y la organización de muebles, permitiendo crear piezas, ajustar sus dimensiones y detectar colisiones o problemas de conexión.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s-MX" b="1" dirty="0">
                <a:solidFill>
                  <a:schemeClr val="lt1"/>
                </a:solidFill>
              </a:rPr>
              <a:t>2. ¿Qué hace diferente a la solución? Integra en una sola aplicación el diseño visual, la modificación de piezas y la validación de sus conexiones.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s-MX" b="1" dirty="0">
                <a:solidFill>
                  <a:schemeClr val="lt1"/>
                </a:solidFill>
              </a:rPr>
              <a:t>3. ¿Qué valor agrega? Ahorra tiempo, mejora la precisión del diseño y ayuda a prevenir errores antes de fabricar el mueble.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2100"/>
              </a:spcAft>
              <a:buNone/>
            </a:pPr>
            <a:endParaRPr lang="es-MX" sz="1100" dirty="0">
              <a:solidFill>
                <a:schemeClr val="dk1"/>
              </a:solidFill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40080" y="2240280"/>
            <a:ext cx="5242255" cy="3840480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[Insertar imagen]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Esquema comparativo o imagen del documento de innovación</a:t>
            </a:r>
            <a:endParaRPr lang="es-MX" dirty="0"/>
          </a:p>
        </p:txBody>
      </p:sp>
      <p:cxnSp>
        <p:nvCxnSpPr>
          <p:cNvPr id="265" name="Google Shape;265;p8"/>
          <p:cNvCxnSpPr/>
          <p:nvPr/>
        </p:nvCxnSpPr>
        <p:spPr>
          <a:xfrm>
            <a:off x="64008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66" name="Google Shape;266;p8"/>
          <p:cNvCxnSpPr/>
          <p:nvPr/>
        </p:nvCxnSpPr>
        <p:spPr>
          <a:xfrm>
            <a:off x="64008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67" name="Google Shape;267;p8"/>
          <p:cNvCxnSpPr/>
          <p:nvPr/>
        </p:nvCxnSpPr>
        <p:spPr>
          <a:xfrm rot="10800000">
            <a:off x="560801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68" name="Google Shape;268;p8"/>
          <p:cNvCxnSpPr/>
          <p:nvPr/>
        </p:nvCxnSpPr>
        <p:spPr>
          <a:xfrm>
            <a:off x="588233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69" name="Google Shape;269;p8"/>
          <p:cNvCxnSpPr/>
          <p:nvPr/>
        </p:nvCxnSpPr>
        <p:spPr>
          <a:xfrm>
            <a:off x="64008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70" name="Google Shape;270;p8"/>
          <p:cNvCxnSpPr/>
          <p:nvPr/>
        </p:nvCxnSpPr>
        <p:spPr>
          <a:xfrm rot="10800000">
            <a:off x="64008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71" name="Google Shape;271;p8"/>
          <p:cNvCxnSpPr/>
          <p:nvPr/>
        </p:nvCxnSpPr>
        <p:spPr>
          <a:xfrm rot="10800000">
            <a:off x="560801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72" name="Google Shape;272;p8"/>
          <p:cNvCxnSpPr/>
          <p:nvPr/>
        </p:nvCxnSpPr>
        <p:spPr>
          <a:xfrm rot="10800000">
            <a:off x="588233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273" name="Google Shape;273;p8" descr="Sketch of working little people with puzzle, teamwork. (proporcionado por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38" y="2127675"/>
            <a:ext cx="5303526" cy="4065688"/>
          </a:xfrm>
          <a:prstGeom prst="rect">
            <a:avLst/>
          </a:prstGeom>
          <a:solidFill>
            <a:srgbClr val="0F2339"/>
          </a:solidFill>
          <a:ln w="15875" cap="flat" cmpd="sng">
            <a:solidFill>
              <a:srgbClr val="4A6D91"/>
            </a:solidFill>
            <a:prstDash val="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640077" y="685800"/>
            <a:ext cx="5823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Tecnologías y herramientas</a:t>
            </a:r>
            <a:endParaRPr lang="es-MX" dirty="0"/>
          </a:p>
        </p:txBody>
      </p:sp>
      <p:sp>
        <p:nvSpPr>
          <p:cNvPr id="280" name="Google Shape;280;p9"/>
          <p:cNvSpPr txBox="1"/>
          <p:nvPr/>
        </p:nvSpPr>
        <p:spPr>
          <a:xfrm>
            <a:off x="640077" y="384050"/>
            <a:ext cx="5477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281" name="Google Shape;281;p9"/>
          <p:cNvSpPr txBox="1"/>
          <p:nvPr/>
        </p:nvSpPr>
        <p:spPr>
          <a:xfrm>
            <a:off x="640077" y="1417325"/>
            <a:ext cx="593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Aplicación de escritorio construida sobre Java 21 y </a:t>
            </a:r>
            <a:r>
              <a:rPr lang="es-MX" sz="180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JavaFX</a:t>
            </a:r>
            <a:r>
              <a:rPr lang="es-MX" sz="18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21.</a:t>
            </a:r>
            <a:endParaRPr lang="es-MX" dirty="0"/>
          </a:p>
        </p:txBody>
      </p:sp>
      <p:sp>
        <p:nvSpPr>
          <p:cNvPr id="282" name="Google Shape;282;p9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283" name="Google Shape;283;p9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s-MX" dirty="0"/>
          </a:p>
        </p:txBody>
      </p:sp>
      <p:sp>
        <p:nvSpPr>
          <p:cNvPr id="284" name="Google Shape;284;p9"/>
          <p:cNvSpPr/>
          <p:nvPr/>
        </p:nvSpPr>
        <p:spPr>
          <a:xfrm>
            <a:off x="158700" y="2011675"/>
            <a:ext cx="6419100" cy="3531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914338" y="4372255"/>
            <a:ext cx="4755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254000" algn="l" rtl="0">
              <a:spcBef>
                <a:spcPts val="1400"/>
              </a:spcBef>
              <a:spcAft>
                <a:spcPts val="0"/>
              </a:spcAft>
              <a:buClr>
                <a:srgbClr val="1D6FEA"/>
              </a:buClr>
              <a:buSzPts val="2200"/>
              <a:buFont typeface="Calibri"/>
              <a:buChar char="•"/>
            </a:pPr>
            <a:endParaRPr lang="es-MX"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699035" y="2011680"/>
            <a:ext cx="5242200" cy="384060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cxnSp>
        <p:nvCxnSpPr>
          <p:cNvPr id="287" name="Google Shape;287;p9"/>
          <p:cNvCxnSpPr/>
          <p:nvPr/>
        </p:nvCxnSpPr>
        <p:spPr>
          <a:xfrm>
            <a:off x="6699035" y="201168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88" name="Google Shape;288;p9"/>
          <p:cNvCxnSpPr/>
          <p:nvPr/>
        </p:nvCxnSpPr>
        <p:spPr>
          <a:xfrm>
            <a:off x="6699035" y="201168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289" name="Google Shape;289;p9"/>
          <p:cNvCxnSpPr/>
          <p:nvPr/>
        </p:nvCxnSpPr>
        <p:spPr>
          <a:xfrm rot="10800000">
            <a:off x="11667090" y="201168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90" name="Google Shape;290;p9"/>
          <p:cNvCxnSpPr/>
          <p:nvPr/>
        </p:nvCxnSpPr>
        <p:spPr>
          <a:xfrm>
            <a:off x="11941290" y="201168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91" name="Google Shape;291;p9"/>
          <p:cNvCxnSpPr/>
          <p:nvPr/>
        </p:nvCxnSpPr>
        <p:spPr>
          <a:xfrm>
            <a:off x="6699035" y="585216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92" name="Google Shape;292;p9"/>
          <p:cNvCxnSpPr/>
          <p:nvPr/>
        </p:nvCxnSpPr>
        <p:spPr>
          <a:xfrm rot="10800000">
            <a:off x="6699035" y="557796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93" name="Google Shape;293;p9"/>
          <p:cNvCxnSpPr/>
          <p:nvPr/>
        </p:nvCxnSpPr>
        <p:spPr>
          <a:xfrm rot="10800000">
            <a:off x="11667090" y="585216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94" name="Google Shape;294;p9"/>
          <p:cNvCxnSpPr/>
          <p:nvPr/>
        </p:nvCxnSpPr>
        <p:spPr>
          <a:xfrm rot="10800000">
            <a:off x="11941290" y="557796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295" name="Google Shape;29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721" y="2082675"/>
            <a:ext cx="1842275" cy="184227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296" name="Google Shape;29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9025" y="4302764"/>
            <a:ext cx="3132208" cy="156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29948" y="2086016"/>
            <a:ext cx="3092400" cy="156607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298" name="Google Shape;298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22500" y="4053073"/>
            <a:ext cx="1699850" cy="1699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9" name="Google Shape;299;p9"/>
          <p:cNvGraphicFramePr/>
          <p:nvPr>
            <p:extLst>
              <p:ext uri="{D42A27DB-BD31-4B8C-83A1-F6EECF244321}">
                <p14:modId xmlns:p14="http://schemas.microsoft.com/office/powerpoint/2010/main" val="423435403"/>
              </p:ext>
            </p:extLst>
          </p:nvPr>
        </p:nvGraphicFramePr>
        <p:xfrm>
          <a:off x="158738" y="2011675"/>
          <a:ext cx="6418975" cy="3587435"/>
        </p:xfrm>
        <a:graphic>
          <a:graphicData uri="http://schemas.openxmlformats.org/drawingml/2006/table">
            <a:tbl>
              <a:tblPr>
                <a:noFill/>
                <a:tableStyleId>{1D632DF8-8C34-41DC-A866-4BC4DA7AFF2D}</a:tableStyleId>
              </a:tblPr>
              <a:tblGrid>
                <a:gridCol w="180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sz="1100" b="1" noProof="0" dirty="0"/>
                        <a:t>Tecnología o herramienta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sz="1100" b="1" noProof="0" dirty="0"/>
                        <a:t>Función dentro del proyecto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Java 21 (</a:t>
                      </a:r>
                      <a:r>
                        <a:rPr lang="es-MX" noProof="0" dirty="0" err="1"/>
                        <a:t>Temurin</a:t>
                      </a:r>
                      <a:r>
                        <a:rPr lang="es-MX" noProof="0" dirty="0"/>
                        <a:t>)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Lenguaje y entorno de ejecución principal.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 err="1"/>
                        <a:t>JavaFX</a:t>
                      </a:r>
                      <a:r>
                        <a:rPr lang="es-MX" noProof="0" dirty="0"/>
                        <a:t> 21.0.8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Desarrollo de la interfaz gráfica de escritorio.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Apache Maven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Administración de dependencias y configuración de compilación y ejecución.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IntelliJ IDEA </a:t>
                      </a:r>
                      <a:r>
                        <a:rPr lang="es-MX" noProof="0" dirty="0" err="1"/>
                        <a:t>Community</a:t>
                      </a:r>
                      <a:endParaRPr lang="es-MX" noProof="0" dirty="0"/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Entorno de desarrollo, edición, depuración y ejecución del proyecto.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 err="1"/>
                        <a:t>Canvas</a:t>
                      </a:r>
                      <a:r>
                        <a:rPr lang="es-MX" noProof="0" dirty="0"/>
                        <a:t> de </a:t>
                      </a:r>
                      <a:r>
                        <a:rPr lang="es-MX" noProof="0" dirty="0" err="1"/>
                        <a:t>JavaFX</a:t>
                      </a:r>
                      <a:endParaRPr lang="es-MX" noProof="0" dirty="0"/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Área de dibujo para representar las piezas y su disposición.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Programación orientada a objetos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Organización del sistema en clases con responsabilidades diferenciadas.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SQLite (A futuro)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Tecnología propuesta para guardar y recuperar diseños; todavía debe implementarse y verificarse.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1300d3d7f86e8c27_0_0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Mapa tecnol</a:t>
            </a:r>
            <a:r>
              <a:rPr lang="es-MX" sz="3400" b="1" dirty="0">
                <a:solidFill>
                  <a:srgbClr val="0B1B2E"/>
                </a:solidFill>
              </a:rPr>
              <a:t>ó</a:t>
            </a: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s-MX" sz="3400" b="1" dirty="0">
                <a:solidFill>
                  <a:srgbClr val="0B1B2E"/>
                </a:solidFill>
              </a:rPr>
              <a:t>ico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endParaRPr lang="es-MX" sz="3400" b="1" dirty="0">
              <a:solidFill>
                <a:srgbClr val="0B1B2E"/>
              </a:solidFill>
            </a:endParaRPr>
          </a:p>
        </p:txBody>
      </p:sp>
      <p:sp>
        <p:nvSpPr>
          <p:cNvPr id="306" name="Google Shape;306;h1300d3d7f86e8c27_0_0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07" name="Google Shape;307;h1300d3d7f86e8c27_0_0"/>
          <p:cNvSpPr txBox="1"/>
          <p:nvPr/>
        </p:nvSpPr>
        <p:spPr>
          <a:xfrm>
            <a:off x="640080" y="1417320"/>
            <a:ext cx="1091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308" name="Google Shape;308;h1300d3d7f86e8c27_0_0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09" name="Google Shape;309;h1300d3d7f86e8c27_0_0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s-MX" dirty="0"/>
          </a:p>
        </p:txBody>
      </p:sp>
      <p:pic>
        <p:nvPicPr>
          <p:cNvPr id="310" name="Google Shape;310;h1300d3d7f86e8c27_0_0" title="Mapa tecnológico de MuebleDesig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600" y="1220024"/>
            <a:ext cx="8229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1300d3d7f86e8c27_0_21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dirty="0">
                <a:solidFill>
                  <a:srgbClr val="0B1B2E"/>
                </a:solidFill>
              </a:rPr>
              <a:t>Diagrama de componentes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endParaRPr lang="es-MX" sz="3400" b="1" dirty="0">
              <a:solidFill>
                <a:srgbClr val="0B1B2E"/>
              </a:solidFill>
            </a:endParaRPr>
          </a:p>
        </p:txBody>
      </p:sp>
      <p:sp>
        <p:nvSpPr>
          <p:cNvPr id="317" name="Google Shape;317;h1300d3d7f86e8c27_0_21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18" name="Google Shape;318;h1300d3d7f86e8c27_0_21"/>
          <p:cNvSpPr txBox="1"/>
          <p:nvPr/>
        </p:nvSpPr>
        <p:spPr>
          <a:xfrm>
            <a:off x="640080" y="1417320"/>
            <a:ext cx="1091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319" name="Google Shape;319;h1300d3d7f86e8c27_0_21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20" name="Google Shape;320;h1300d3d7f86e8c27_0_21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s-MX" dirty="0"/>
          </a:p>
        </p:txBody>
      </p:sp>
      <p:pic>
        <p:nvPicPr>
          <p:cNvPr id="321" name="Google Shape;321;h1300d3d7f86e8c27_0_21" title="WhatsApp Image 2026-10-12 at 10.25.55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075" y="1164101"/>
            <a:ext cx="8430576" cy="558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6dbf1839c3548c59_0_2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dirty="0">
                <a:solidFill>
                  <a:srgbClr val="0B1B2E"/>
                </a:solidFill>
              </a:rPr>
              <a:t>Diagrama Modelo de datos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endParaRPr lang="es-MX" sz="3400" b="1" dirty="0">
              <a:solidFill>
                <a:srgbClr val="0B1B2E"/>
              </a:solidFill>
            </a:endParaRPr>
          </a:p>
        </p:txBody>
      </p:sp>
      <p:sp>
        <p:nvSpPr>
          <p:cNvPr id="328" name="Google Shape;328;h6dbf1839c3548c59_0_2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29" name="Google Shape;329;h6dbf1839c3548c59_0_2"/>
          <p:cNvSpPr txBox="1"/>
          <p:nvPr/>
        </p:nvSpPr>
        <p:spPr>
          <a:xfrm>
            <a:off x="640080" y="1417320"/>
            <a:ext cx="1091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330" name="Google Shape;330;h6dbf1839c3548c59_0_2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31" name="Google Shape;331;h6dbf1839c3548c59_0_2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s-MX" dirty="0"/>
          </a:p>
        </p:txBody>
      </p:sp>
      <p:pic>
        <p:nvPicPr>
          <p:cNvPr id="332" name="Google Shape;332;h6dbf1839c3548c59_0_2" title="Modelo de da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373" y="125877"/>
            <a:ext cx="3412801" cy="660624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h6dbf1839c3548c59_0_2"/>
          <p:cNvSpPr/>
          <p:nvPr/>
        </p:nvSpPr>
        <p:spPr>
          <a:xfrm>
            <a:off x="640079" y="1826857"/>
            <a:ext cx="3367800" cy="3840600"/>
          </a:xfrm>
          <a:prstGeom prst="roundRect">
            <a:avLst>
              <a:gd name="adj" fmla="val 3258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h6dbf1839c3548c59_0_2"/>
          <p:cNvSpPr txBox="1"/>
          <p:nvPr/>
        </p:nvSpPr>
        <p:spPr>
          <a:xfrm>
            <a:off x="726680" y="1971000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Cómo leerlo</a:t>
            </a:r>
            <a:endParaRPr lang="es-MX" dirty="0"/>
          </a:p>
        </p:txBody>
      </p:sp>
      <p:sp>
        <p:nvSpPr>
          <p:cNvPr id="335" name="Google Shape;335;h6dbf1839c3548c59_0_2"/>
          <p:cNvSpPr txBox="1"/>
          <p:nvPr/>
        </p:nvSpPr>
        <p:spPr>
          <a:xfrm>
            <a:off x="640080" y="2408695"/>
            <a:ext cx="2910600" cy="3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Proyecto – Pieza: un proyecto puede contener muchas piezas, pero cada pieza pertenece a un proyecto.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Pieza – Geometría: cada pieza tiene una geometría que determina su forma.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Pieza – Conexión: una pieza puede participar en varias conexiones con otras piezas.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Conexión – Pieza: cada conexión relaciona una pieza de origen con una pieza de destino.</a:t>
            </a:r>
          </a:p>
        </p:txBody>
      </p:sp>
      <p:sp>
        <p:nvSpPr>
          <p:cNvPr id="336" name="Google Shape;336;h6dbf1839c3548c59_0_2"/>
          <p:cNvSpPr txBox="1"/>
          <p:nvPr/>
        </p:nvSpPr>
        <p:spPr>
          <a:xfrm>
            <a:off x="4371325" y="2106100"/>
            <a:ext cx="2568900" cy="1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dirty="0">
                <a:solidFill>
                  <a:schemeClr val="dk1"/>
                </a:solidFill>
              </a:rPr>
              <a:t>Cuando se incorpore persistencia trabajando con SQLite, las tablas principales serían </a:t>
            </a:r>
            <a:r>
              <a:rPr lang="es-MX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proyecto</a:t>
            </a:r>
            <a:r>
              <a:rPr lang="es-MX" sz="1100" dirty="0">
                <a:solidFill>
                  <a:schemeClr val="dk1"/>
                </a:solidFill>
              </a:rPr>
              <a:t>, </a:t>
            </a:r>
            <a:r>
              <a:rPr lang="es-MX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pieza</a:t>
            </a:r>
            <a:r>
              <a:rPr lang="es-MX" sz="1100" dirty="0">
                <a:solidFill>
                  <a:schemeClr val="dk1"/>
                </a:solidFill>
              </a:rPr>
              <a:t> y </a:t>
            </a:r>
            <a:r>
              <a:rPr lang="es-MX" sz="11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conexion</a:t>
            </a:r>
            <a:r>
              <a:rPr lang="es-MX" sz="1100" dirty="0">
                <a:solidFill>
                  <a:schemeClr val="dk1"/>
                </a:solidFill>
              </a:rPr>
              <a:t>. La tabla </a:t>
            </a:r>
            <a:r>
              <a:rPr lang="es-MX" sz="11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geometria</a:t>
            </a:r>
            <a:r>
              <a:rPr lang="es-MX" sz="1100" dirty="0">
                <a:solidFill>
                  <a:schemeClr val="dk1"/>
                </a:solidFill>
              </a:rPr>
              <a:t> podría separarse si se necesita almacenar distintos tipos de formas o sus vértices de forma estructurada.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6dbf1839c3548c59_0_17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dirty="0">
                <a:solidFill>
                  <a:srgbClr val="0B1B2E"/>
                </a:solidFill>
              </a:rPr>
              <a:t>Diagrama Comunicación entre servicios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endParaRPr lang="es-MX" sz="3400" b="1" dirty="0">
              <a:solidFill>
                <a:srgbClr val="0B1B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dirty="0">
                <a:solidFill>
                  <a:srgbClr val="0B1B2E"/>
                </a:solidFill>
              </a:rPr>
              <a:t>¿Es necesario?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endParaRPr lang="es-MX" sz="3400" b="1" dirty="0">
              <a:solidFill>
                <a:srgbClr val="0B1B2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dirty="0">
                <a:solidFill>
                  <a:srgbClr val="0B1B2E"/>
                </a:solidFill>
              </a:rPr>
              <a:t>Motivo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endParaRPr lang="es-MX" sz="3400" b="1" dirty="0">
              <a:solidFill>
                <a:srgbClr val="0B1B2E"/>
              </a:solidFill>
            </a:endParaRPr>
          </a:p>
        </p:txBody>
      </p:sp>
      <p:sp>
        <p:nvSpPr>
          <p:cNvPr id="343" name="Google Shape;343;h6dbf1839c3548c59_0_17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44" name="Google Shape;344;h6dbf1839c3548c59_0_17"/>
          <p:cNvSpPr txBox="1"/>
          <p:nvPr/>
        </p:nvSpPr>
        <p:spPr>
          <a:xfrm>
            <a:off x="640080" y="1417320"/>
            <a:ext cx="1091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345" name="Google Shape;345;h6dbf1839c3548c59_0_17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46" name="Google Shape;346;h6dbf1839c3548c59_0_17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s-MX" dirty="0"/>
          </a:p>
        </p:txBody>
      </p:sp>
      <p:sp>
        <p:nvSpPr>
          <p:cNvPr id="347" name="Google Shape;347;h6dbf1839c3548c59_0_17"/>
          <p:cNvSpPr txBox="1"/>
          <p:nvPr/>
        </p:nvSpPr>
        <p:spPr>
          <a:xfrm>
            <a:off x="3799918" y="1802525"/>
            <a:ext cx="68373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MX" sz="2000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necesariamente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s-MX" sz="2000" i="1"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MX" sz="2000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 la aplicación funciona como un programa Java local, sin microservicios ni API, no necesita un diagrama de comunicación entre servicios.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s-MX" i="1"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Arquitectura general del software</a:t>
            </a:r>
            <a:endParaRPr lang="es-MX" dirty="0"/>
          </a:p>
        </p:txBody>
      </p:sp>
      <p:sp>
        <p:nvSpPr>
          <p:cNvPr id="354" name="Google Shape;354;p10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55" name="Google Shape;355;p10"/>
          <p:cNvSpPr txBox="1"/>
          <p:nvPr/>
        </p:nvSpPr>
        <p:spPr>
          <a:xfrm>
            <a:off x="640080" y="1417320"/>
            <a:ext cx="1091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356" name="Google Shape;356;p10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57" name="Google Shape;357;p10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s-MX" dirty="0"/>
          </a:p>
        </p:txBody>
      </p:sp>
      <p:sp>
        <p:nvSpPr>
          <p:cNvPr id="367" name="Google Shape;367;p10"/>
          <p:cNvSpPr txBox="1"/>
          <p:nvPr/>
        </p:nvSpPr>
        <p:spPr>
          <a:xfrm>
            <a:off x="640080" y="6016752"/>
            <a:ext cx="7315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pic>
        <p:nvPicPr>
          <p:cNvPr id="371" name="Google Shape;37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849" y="1190406"/>
            <a:ext cx="7217539" cy="5537941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1300d3d7f86e8c27_0_32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dirty="0">
                <a:solidFill>
                  <a:srgbClr val="0B1B2E"/>
                </a:solidFill>
              </a:rPr>
              <a:t>Casos de Uso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endParaRPr lang="es-MX" sz="3400" b="1" dirty="0">
              <a:solidFill>
                <a:srgbClr val="0B1B2E"/>
              </a:solidFill>
            </a:endParaRPr>
          </a:p>
        </p:txBody>
      </p:sp>
      <p:sp>
        <p:nvSpPr>
          <p:cNvPr id="378" name="Google Shape;378;h1300d3d7f86e8c27_0_32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79" name="Google Shape;379;h1300d3d7f86e8c27_0_32"/>
          <p:cNvSpPr txBox="1"/>
          <p:nvPr/>
        </p:nvSpPr>
        <p:spPr>
          <a:xfrm>
            <a:off x="640080" y="1417320"/>
            <a:ext cx="1091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380" name="Google Shape;380;h1300d3d7f86e8c27_0_32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81" name="Google Shape;381;h1300d3d7f86e8c27_0_32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s-MX" dirty="0"/>
          </a:p>
        </p:txBody>
      </p:sp>
      <p:pic>
        <p:nvPicPr>
          <p:cNvPr id="382" name="Google Shape;382;h1300d3d7f86e8c27_0_32" title="WhatsApp Image 2026-10-12 at 10.34.46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700" y="1210300"/>
            <a:ext cx="7989201" cy="53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Diagrama de clases</a:t>
            </a:r>
            <a:endParaRPr lang="es-MX" dirty="0"/>
          </a:p>
        </p:txBody>
      </p:sp>
      <p:sp>
        <p:nvSpPr>
          <p:cNvPr id="388" name="Google Shape;388;p1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89" name="Google Shape;389;p12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90" name="Google Shape;390;p12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s-MX" dirty="0"/>
          </a:p>
        </p:txBody>
      </p:sp>
      <p:pic>
        <p:nvPicPr>
          <p:cNvPr id="391" name="Google Shape;39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475" y="1258050"/>
            <a:ext cx="6836424" cy="5522574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6dbf1839c3548c59_0_32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Diagrama de clases</a:t>
            </a:r>
            <a:endParaRPr lang="es-MX" dirty="0"/>
          </a:p>
        </p:txBody>
      </p:sp>
      <p:sp>
        <p:nvSpPr>
          <p:cNvPr id="397" name="Google Shape;397;h6dbf1839c3548c59_0_32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398" name="Google Shape;398;h6dbf1839c3548c59_0_32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399" name="Google Shape;399;h6dbf1839c3548c59_0_32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s-MX" dirty="0"/>
          </a:p>
        </p:txBody>
      </p:sp>
      <p:sp>
        <p:nvSpPr>
          <p:cNvPr id="400" name="Google Shape;400;h6dbf1839c3548c59_0_32"/>
          <p:cNvSpPr/>
          <p:nvPr/>
        </p:nvSpPr>
        <p:spPr>
          <a:xfrm>
            <a:off x="640075" y="1539900"/>
            <a:ext cx="11147400" cy="4842600"/>
          </a:xfrm>
          <a:prstGeom prst="roundRect">
            <a:avLst>
              <a:gd name="adj" fmla="val 3258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h6dbf1839c3548c59_0_32"/>
          <p:cNvSpPr txBox="1"/>
          <p:nvPr/>
        </p:nvSpPr>
        <p:spPr>
          <a:xfrm>
            <a:off x="965655" y="1679850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Cómo leerlo</a:t>
            </a:r>
            <a:endParaRPr lang="es-MX" dirty="0"/>
          </a:p>
        </p:txBody>
      </p:sp>
      <p:sp>
        <p:nvSpPr>
          <p:cNvPr id="402" name="Google Shape;402;h6dbf1839c3548c59_0_32"/>
          <p:cNvSpPr txBox="1"/>
          <p:nvPr/>
        </p:nvSpPr>
        <p:spPr>
          <a:xfrm>
            <a:off x="1167475" y="2412375"/>
            <a:ext cx="4141800" cy="24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3" name="Google Shape;403;h6dbf1839c3548c59_0_32"/>
          <p:cNvGraphicFramePr/>
          <p:nvPr>
            <p:extLst>
              <p:ext uri="{D42A27DB-BD31-4B8C-83A1-F6EECF244321}">
                <p14:modId xmlns:p14="http://schemas.microsoft.com/office/powerpoint/2010/main" val="1874044279"/>
              </p:ext>
            </p:extLst>
          </p:nvPr>
        </p:nvGraphicFramePr>
        <p:xfrm>
          <a:off x="744125" y="220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{84C294D8-CC88-4592-8251-95597ED4E099}</a:tableStyleId>
              </a:tblPr>
              <a:tblGrid>
                <a:gridCol w="19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sz="1100" b="1" noProof="0" dirty="0"/>
                        <a:t>Archivo / clase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sz="1100" b="1" noProof="0" dirty="0"/>
                        <a:t>Responsabilidad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HolaMuebleDesigner.java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Punto de entrada </a:t>
                      </a:r>
                      <a:r>
                        <a:rPr lang="es-MX" noProof="0" dirty="0" err="1"/>
                        <a:t>JavaFX</a:t>
                      </a:r>
                      <a:r>
                        <a:rPr lang="es-MX" noProof="0" dirty="0"/>
                        <a:t> y coordinación de la interfaz, los eventos y las actualizaciones visuales.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Pieza.java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Modelo de una pieza: posición, dimensiones, color y geometría. Sus propiedades se han encapsulado con </a:t>
                      </a:r>
                      <a:r>
                        <a:rPr lang="es-MX" noProof="0" dirty="0" err="1"/>
                        <a:t>getters</a:t>
                      </a:r>
                      <a:r>
                        <a:rPr lang="es-MX" noProof="0" dirty="0"/>
                        <a:t> y </a:t>
                      </a:r>
                      <a:r>
                        <a:rPr lang="es-MX" noProof="0" dirty="0" err="1"/>
                        <a:t>setters</a:t>
                      </a:r>
                      <a:r>
                        <a:rPr lang="es-MX" noProof="0" dirty="0"/>
                        <a:t>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Conexion.java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Representa una conexión entre piezas o elementos de conexión.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Vertice.java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Representa un punto mediante coordenadas y estado de proximidad.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Geometria.java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Abstracción o base para las formas geométricas.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Rectangulo.java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Implementación de geometría rectangular y sus dimensiones.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ElementoConexion.java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Representa elementos o puntos de una pieza que pueden intervenir en una conexión.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h6dbf1839c3548c59_0_62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Diagrama de clases</a:t>
            </a:r>
            <a:endParaRPr lang="es-MX" dirty="0"/>
          </a:p>
        </p:txBody>
      </p:sp>
      <p:sp>
        <p:nvSpPr>
          <p:cNvPr id="409" name="Google Shape;409;h6dbf1839c3548c59_0_62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410" name="Google Shape;410;h6dbf1839c3548c59_0_62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411" name="Google Shape;411;h6dbf1839c3548c59_0_62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s-MX" dirty="0"/>
          </a:p>
        </p:txBody>
      </p:sp>
      <p:sp>
        <p:nvSpPr>
          <p:cNvPr id="412" name="Google Shape;412;h6dbf1839c3548c59_0_62"/>
          <p:cNvSpPr/>
          <p:nvPr/>
        </p:nvSpPr>
        <p:spPr>
          <a:xfrm>
            <a:off x="640075" y="1539900"/>
            <a:ext cx="11147400" cy="4842600"/>
          </a:xfrm>
          <a:prstGeom prst="roundRect">
            <a:avLst>
              <a:gd name="adj" fmla="val 3258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h6dbf1839c3548c59_0_62"/>
          <p:cNvSpPr txBox="1"/>
          <p:nvPr/>
        </p:nvSpPr>
        <p:spPr>
          <a:xfrm>
            <a:off x="965655" y="1679850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Cómo leerlo</a:t>
            </a:r>
            <a:endParaRPr lang="es-MX" dirty="0"/>
          </a:p>
        </p:txBody>
      </p:sp>
      <p:graphicFrame>
        <p:nvGraphicFramePr>
          <p:cNvPr id="414" name="Google Shape;414;h6dbf1839c3548c59_0_62"/>
          <p:cNvGraphicFramePr/>
          <p:nvPr>
            <p:extLst>
              <p:ext uri="{D42A27DB-BD31-4B8C-83A1-F6EECF244321}">
                <p14:modId xmlns:p14="http://schemas.microsoft.com/office/powerpoint/2010/main" val="782010079"/>
              </p:ext>
            </p:extLst>
          </p:nvPr>
        </p:nvGraphicFramePr>
        <p:xfrm>
          <a:off x="640075" y="243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{84C294D8-CC88-4592-8251-95597ED4E099}</a:tableStyleId>
              </a:tblPr>
              <a:tblGrid>
                <a:gridCol w="226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GestorPiezas.java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Centraliza operaciones relacionadas con la colección y administración de piezas.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GestorConexiones.java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Gestiona conexiones, duplicados, grupos conectados, movimientos, desconexión y eliminación de vínculos.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DibujadorPiezas.java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Dibuja las piezas en el área gráfica.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ValidadorPieza.java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Comprueba si una pieza cumple las reglas de validez definidas.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ValidadorDimensiones.java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Centraliza las reglas para dimensiones válidas.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ValidadorConexion.java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Comprueba las condiciones de validez de una conexión.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DetectorColisiones.java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Detecta solapamientos espaciales entre piezas según su representación actual.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DetectorProximidad.java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Evalúa si piezas o vértices están suficientemente cerca para una posible conexión.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PruebaValidadorPieza.java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A6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Ejecuta pruebas de validación; falta confirmar si está integrada con un </a:t>
                      </a:r>
                      <a:r>
                        <a:rPr lang="es-MX" noProof="0" dirty="0" err="1"/>
                        <a:t>framework</a:t>
                      </a:r>
                      <a:r>
                        <a:rPr lang="es-MX" noProof="0" dirty="0"/>
                        <a:t> de pruebas.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pom.xml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noProof="0" dirty="0"/>
                        <a:t>Configuración Maven, dependencias y ejecución de la aplicación </a:t>
                      </a:r>
                      <a:r>
                        <a:rPr lang="es-MX" noProof="0" dirty="0" err="1"/>
                        <a:t>JavaFX</a:t>
                      </a:r>
                      <a:r>
                        <a:rPr lang="es-MX" noProof="0" dirty="0"/>
                        <a:t>.</a:t>
                      </a:r>
                    </a:p>
                  </a:txBody>
                  <a:tcPr marL="9525" marR="9525" marT="9525" marB="95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1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Diagrama de </a:t>
            </a:r>
            <a:r>
              <a:rPr lang="es-MX" sz="3400" b="1" dirty="0">
                <a:solidFill>
                  <a:srgbClr val="0B1B2E"/>
                </a:solidFill>
              </a:rPr>
              <a:t>secuencia de funcionalidad (crear una pieza)</a:t>
            </a:r>
            <a:endParaRPr lang="es-MX" dirty="0"/>
          </a:p>
        </p:txBody>
      </p:sp>
      <p:sp>
        <p:nvSpPr>
          <p:cNvPr id="420" name="Google Shape;420;p11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421" name="Google Shape;421;p11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Duoc UC</a:t>
            </a:r>
            <a:endParaRPr lang="es-MX" dirty="0"/>
          </a:p>
        </p:txBody>
      </p:sp>
      <p:sp>
        <p:nvSpPr>
          <p:cNvPr id="422" name="Google Shape;422;p11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s-MX" dirty="0"/>
          </a:p>
        </p:txBody>
      </p:sp>
      <p:cxnSp>
        <p:nvCxnSpPr>
          <p:cNvPr id="423" name="Google Shape;423;p11"/>
          <p:cNvCxnSpPr/>
          <p:nvPr/>
        </p:nvCxnSpPr>
        <p:spPr>
          <a:xfrm rot="10800000">
            <a:off x="7680959" y="210312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24" name="Google Shape;424;p11"/>
          <p:cNvCxnSpPr/>
          <p:nvPr/>
        </p:nvCxnSpPr>
        <p:spPr>
          <a:xfrm>
            <a:off x="7955279" y="2103120"/>
            <a:ext cx="0" cy="274319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25" name="Google Shape;425;p11"/>
          <p:cNvCxnSpPr/>
          <p:nvPr/>
        </p:nvCxnSpPr>
        <p:spPr>
          <a:xfrm rot="10800000">
            <a:off x="7680959" y="594360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26" name="Google Shape;426;p11"/>
          <p:cNvCxnSpPr/>
          <p:nvPr/>
        </p:nvCxnSpPr>
        <p:spPr>
          <a:xfrm rot="10800000">
            <a:off x="7955279" y="5669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427" name="Google Shape;42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400" y="1469925"/>
            <a:ext cx="8824817" cy="491257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593a6a669a0036d1_11_25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Diagrama de </a:t>
            </a:r>
            <a:r>
              <a:rPr lang="es-MX" sz="3400" b="1" dirty="0">
                <a:solidFill>
                  <a:srgbClr val="0B1B2E"/>
                </a:solidFill>
              </a:rPr>
              <a:t>secuencia de funcionalidad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dirty="0">
                <a:solidFill>
                  <a:srgbClr val="0B1B2E"/>
                </a:solidFill>
              </a:rPr>
              <a:t>(</a:t>
            </a:r>
            <a:r>
              <a:rPr lang="es-MX" sz="2600" b="1" dirty="0">
                <a:latin typeface="Arial"/>
                <a:ea typeface="Arial"/>
                <a:cs typeface="Arial"/>
                <a:sym typeface="Arial"/>
              </a:rPr>
              <a:t>mover una pieza y detectar proximidad</a:t>
            </a:r>
            <a:r>
              <a:rPr lang="es-MX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 sz="3400" b="1" dirty="0">
                <a:solidFill>
                  <a:srgbClr val="0B1B2E"/>
                </a:solidFill>
              </a:rPr>
              <a:t>)</a:t>
            </a:r>
            <a:endParaRPr lang="es-MX" dirty="0"/>
          </a:p>
        </p:txBody>
      </p:sp>
      <p:sp>
        <p:nvSpPr>
          <p:cNvPr id="433" name="Google Shape;433;h593a6a669a0036d1_11_25"/>
          <p:cNvSpPr txBox="1"/>
          <p:nvPr/>
        </p:nvSpPr>
        <p:spPr>
          <a:xfrm>
            <a:off x="640080" y="384048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03 · DISEÑO TÉCNICO</a:t>
            </a:r>
            <a:endParaRPr lang="es-MX" dirty="0"/>
          </a:p>
        </p:txBody>
      </p:sp>
      <p:sp>
        <p:nvSpPr>
          <p:cNvPr id="434" name="Google Shape;434;h593a6a669a0036d1_11_25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Duoc UC</a:t>
            </a:r>
            <a:endParaRPr lang="es-MX" dirty="0"/>
          </a:p>
        </p:txBody>
      </p:sp>
      <p:sp>
        <p:nvSpPr>
          <p:cNvPr id="435" name="Google Shape;435;h593a6a669a0036d1_11_25"/>
          <p:cNvSpPr txBox="1"/>
          <p:nvPr/>
        </p:nvSpPr>
        <p:spPr>
          <a:xfrm>
            <a:off x="10637215" y="6382512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s-MX" dirty="0"/>
          </a:p>
        </p:txBody>
      </p:sp>
      <p:sp>
        <p:nvSpPr>
          <p:cNvPr id="436" name="Google Shape;436;h593a6a669a0036d1_11_25"/>
          <p:cNvSpPr/>
          <p:nvPr/>
        </p:nvSpPr>
        <p:spPr>
          <a:xfrm>
            <a:off x="640080" y="2103120"/>
            <a:ext cx="7315200" cy="384060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[Insertar diagrama]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Diagrama de componentes existente</a:t>
            </a:r>
            <a:endParaRPr lang="es-MX" dirty="0"/>
          </a:p>
        </p:txBody>
      </p:sp>
      <p:cxnSp>
        <p:nvCxnSpPr>
          <p:cNvPr id="437" name="Google Shape;437;h593a6a669a0036d1_11_25"/>
          <p:cNvCxnSpPr/>
          <p:nvPr/>
        </p:nvCxnSpPr>
        <p:spPr>
          <a:xfrm>
            <a:off x="640080" y="210312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438" name="Google Shape;438;h593a6a669a0036d1_11_25"/>
          <p:cNvCxnSpPr/>
          <p:nvPr/>
        </p:nvCxnSpPr>
        <p:spPr>
          <a:xfrm>
            <a:off x="640080" y="210312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439" name="Google Shape;439;h593a6a669a0036d1_11_25"/>
          <p:cNvCxnSpPr/>
          <p:nvPr/>
        </p:nvCxnSpPr>
        <p:spPr>
          <a:xfrm rot="10800000">
            <a:off x="7681079" y="210312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440" name="Google Shape;440;h593a6a669a0036d1_11_25"/>
          <p:cNvCxnSpPr/>
          <p:nvPr/>
        </p:nvCxnSpPr>
        <p:spPr>
          <a:xfrm>
            <a:off x="7955279" y="210312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441" name="Google Shape;441;h593a6a669a0036d1_11_25"/>
          <p:cNvCxnSpPr/>
          <p:nvPr/>
        </p:nvCxnSpPr>
        <p:spPr>
          <a:xfrm>
            <a:off x="640080" y="594360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442" name="Google Shape;442;h593a6a669a0036d1_11_25"/>
          <p:cNvCxnSpPr/>
          <p:nvPr/>
        </p:nvCxnSpPr>
        <p:spPr>
          <a:xfrm rot="10800000">
            <a:off x="640080" y="566940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443" name="Google Shape;443;h593a6a669a0036d1_11_25"/>
          <p:cNvCxnSpPr/>
          <p:nvPr/>
        </p:nvCxnSpPr>
        <p:spPr>
          <a:xfrm rot="10800000">
            <a:off x="7681079" y="5943600"/>
            <a:ext cx="27420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cxnSp>
        <p:nvCxnSpPr>
          <p:cNvPr id="444" name="Google Shape;444;h593a6a669a0036d1_11_25"/>
          <p:cNvCxnSpPr/>
          <p:nvPr/>
        </p:nvCxnSpPr>
        <p:spPr>
          <a:xfrm rot="10800000">
            <a:off x="7955279" y="5669400"/>
            <a:ext cx="0" cy="27420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445" name="Google Shape;445;h593a6a669a0036d1_11_25"/>
          <p:cNvSpPr txBox="1"/>
          <p:nvPr/>
        </p:nvSpPr>
        <p:spPr>
          <a:xfrm>
            <a:off x="640080" y="6016752"/>
            <a:ext cx="7315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446" name="Google Shape;446;h593a6a669a0036d1_11_25"/>
          <p:cNvSpPr/>
          <p:nvPr/>
        </p:nvSpPr>
        <p:spPr>
          <a:xfrm>
            <a:off x="8869679" y="1956757"/>
            <a:ext cx="3367800" cy="3840600"/>
          </a:xfrm>
          <a:prstGeom prst="roundRect">
            <a:avLst>
              <a:gd name="adj" fmla="val 3258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h593a6a669a0036d1_11_25"/>
          <p:cNvSpPr txBox="1"/>
          <p:nvPr/>
        </p:nvSpPr>
        <p:spPr>
          <a:xfrm>
            <a:off x="8869680" y="2519425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Cómo leerlo</a:t>
            </a:r>
            <a:endParaRPr lang="es-MX" dirty="0"/>
          </a:p>
        </p:txBody>
      </p:sp>
      <p:sp>
        <p:nvSpPr>
          <p:cNvPr id="448" name="Google Shape;448;h593a6a669a0036d1_11_25"/>
          <p:cNvSpPr txBox="1"/>
          <p:nvPr/>
        </p:nvSpPr>
        <p:spPr>
          <a:xfrm>
            <a:off x="8869680" y="3180920"/>
            <a:ext cx="2910600" cy="20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Proximidad: determina si una pieza está lo bastante cerca de otra para considerar una conexión automática.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MX" i="1"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MX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Colisión: determina si existe solapamiento entre las piezas.</a:t>
            </a:r>
          </a:p>
          <a:p>
            <a:pPr marL="2286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endParaRPr lang="es-MX" i="1"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h593a6a669a0036d1_1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098275"/>
            <a:ext cx="8772525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Implementación y decisiones técnicas</a:t>
            </a:r>
            <a:endParaRPr lang="es-MX" dirty="0"/>
          </a:p>
        </p:txBody>
      </p:sp>
      <p:sp>
        <p:nvSpPr>
          <p:cNvPr id="455" name="Google Shape;455;p13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04 · IMPLEMENTACIÓN Y EVIDENCIAS</a:t>
            </a:r>
            <a:endParaRPr lang="es-MX" dirty="0"/>
          </a:p>
        </p:txBody>
      </p:sp>
      <p:sp>
        <p:nvSpPr>
          <p:cNvPr id="456" name="Google Shape;456;p13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lang="es-MX" dirty="0"/>
          </a:p>
        </p:txBody>
      </p:sp>
      <p:sp>
        <p:nvSpPr>
          <p:cNvPr id="457" name="Google Shape;457;p13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s-MX" dirty="0"/>
          </a:p>
        </p:txBody>
      </p:sp>
      <p:sp>
        <p:nvSpPr>
          <p:cNvPr id="458" name="Google Shape;458;p13"/>
          <p:cNvSpPr/>
          <p:nvPr/>
        </p:nvSpPr>
        <p:spPr>
          <a:xfrm>
            <a:off x="640069" y="2240275"/>
            <a:ext cx="10911600" cy="3840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879290" y="2359505"/>
            <a:ext cx="4755000" cy="3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MX" sz="1700" b="1" dirty="0">
                <a:solidFill>
                  <a:schemeClr val="dk1"/>
                </a:solidFill>
              </a:rPr>
              <a:t>Estructura del código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500" dirty="0">
                <a:solidFill>
                  <a:schemeClr val="dk1"/>
                </a:solidFill>
              </a:rPr>
              <a:t>El código se organiza en clases según sus responsabilidades: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 dirty="0">
                <a:solidFill>
                  <a:schemeClr val="dk1"/>
                </a:solidFill>
              </a:rPr>
              <a:t>Interfaz gráfica: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HolaMuebleDesigner</a:t>
            </a:r>
            <a:r>
              <a:rPr lang="es-MX" sz="1500" dirty="0">
                <a:solidFill>
                  <a:schemeClr val="dk1"/>
                </a:solidFill>
              </a:rPr>
              <a:t> y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DibujadorPiezas</a:t>
            </a:r>
            <a:r>
              <a:rPr lang="es-MX" sz="1500" dirty="0">
                <a:solidFill>
                  <a:schemeClr val="dk1"/>
                </a:solidFill>
              </a:rPr>
              <a:t>.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 dirty="0">
                <a:solidFill>
                  <a:schemeClr val="dk1"/>
                </a:solidFill>
              </a:rPr>
              <a:t>Gestión: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GestorPiezas</a:t>
            </a:r>
            <a:r>
              <a:rPr lang="es-MX" sz="1500" dirty="0">
                <a:solidFill>
                  <a:schemeClr val="dk1"/>
                </a:solidFill>
              </a:rPr>
              <a:t> y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GestorConexiones</a:t>
            </a:r>
            <a:r>
              <a:rPr lang="es-MX" sz="1500" dirty="0">
                <a:solidFill>
                  <a:schemeClr val="dk1"/>
                </a:solidFill>
              </a:rPr>
              <a:t>.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 dirty="0">
                <a:solidFill>
                  <a:schemeClr val="dk1"/>
                </a:solidFill>
              </a:rPr>
              <a:t>Modelo y geometría: </a:t>
            </a:r>
            <a:r>
              <a:rPr lang="es-MX" sz="15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Pieza</a:t>
            </a:r>
            <a:r>
              <a:rPr lang="es-MX" sz="1500" dirty="0">
                <a:solidFill>
                  <a:schemeClr val="dk1"/>
                </a:solidFill>
              </a:rPr>
              <a:t>,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Geometria</a:t>
            </a:r>
            <a:r>
              <a:rPr lang="es-MX" sz="1500" dirty="0">
                <a:solidFill>
                  <a:schemeClr val="dk1"/>
                </a:solidFill>
              </a:rPr>
              <a:t>,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Rectangulo</a:t>
            </a:r>
            <a:r>
              <a:rPr lang="es-MX" sz="1500" dirty="0">
                <a:solidFill>
                  <a:schemeClr val="dk1"/>
                </a:solidFill>
              </a:rPr>
              <a:t>,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Vertice</a:t>
            </a:r>
            <a:r>
              <a:rPr lang="es-MX" sz="1500" dirty="0">
                <a:solidFill>
                  <a:schemeClr val="dk1"/>
                </a:solidFill>
              </a:rPr>
              <a:t>,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Conexion</a:t>
            </a:r>
            <a:r>
              <a:rPr lang="es-MX" sz="1500" dirty="0">
                <a:solidFill>
                  <a:schemeClr val="dk1"/>
                </a:solidFill>
              </a:rPr>
              <a:t> y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ElementoConexion</a:t>
            </a:r>
            <a:r>
              <a:rPr lang="es-MX" sz="1500" dirty="0">
                <a:solidFill>
                  <a:schemeClr val="dk1"/>
                </a:solidFill>
              </a:rPr>
              <a:t>.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 dirty="0">
                <a:solidFill>
                  <a:schemeClr val="dk1"/>
                </a:solidFill>
              </a:rPr>
              <a:t>Validación y detección: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ValidadorPieza</a:t>
            </a:r>
            <a:r>
              <a:rPr lang="es-MX" sz="1500" dirty="0">
                <a:solidFill>
                  <a:schemeClr val="dk1"/>
                </a:solidFill>
              </a:rPr>
              <a:t>,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ValidadorDimensiones</a:t>
            </a:r>
            <a:r>
              <a:rPr lang="es-MX" sz="1500" dirty="0">
                <a:solidFill>
                  <a:schemeClr val="dk1"/>
                </a:solidFill>
              </a:rPr>
              <a:t>,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ValidadorConexion</a:t>
            </a:r>
            <a:r>
              <a:rPr lang="es-MX" sz="1500" dirty="0">
                <a:solidFill>
                  <a:schemeClr val="dk1"/>
                </a:solidFill>
              </a:rPr>
              <a:t>,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DetectorColisiones</a:t>
            </a:r>
            <a:r>
              <a:rPr lang="es-MX" sz="1500" dirty="0">
                <a:solidFill>
                  <a:schemeClr val="dk1"/>
                </a:solidFill>
              </a:rPr>
              <a:t> y </a:t>
            </a:r>
            <a:r>
              <a:rPr lang="es-MX" sz="15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DetectorProximidad</a:t>
            </a:r>
            <a:r>
              <a:rPr lang="es-MX" sz="1500" dirty="0">
                <a:solidFill>
                  <a:schemeClr val="dk1"/>
                </a:solidFill>
              </a:rPr>
              <a:t>.</a:t>
            </a:r>
            <a:endParaRPr lang="es-MX" sz="1800" i="1" dirty="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6036550" y="2352325"/>
            <a:ext cx="5265600" cy="3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 b="1" dirty="0">
                <a:solidFill>
                  <a:schemeClr val="dk1"/>
                </a:solidFill>
              </a:rPr>
              <a:t>Decisiones técnicas relevantes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dirty="0">
                <a:solidFill>
                  <a:schemeClr val="dk1"/>
                </a:solidFill>
              </a:rPr>
              <a:t>- Separación de responsabilidades: se utilizan clases específicas para gestionar piezas, conexiones, geometría y validaciones, evitando concentrar toda la lógica en una sola clase.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dirty="0">
                <a:solidFill>
                  <a:schemeClr val="dk1"/>
                </a:solidFill>
              </a:rPr>
              <a:t>- Uso de </a:t>
            </a:r>
            <a:r>
              <a:rPr lang="es-MX" dirty="0" err="1">
                <a:solidFill>
                  <a:schemeClr val="dk1"/>
                </a:solidFill>
              </a:rPr>
              <a:t>JavaFX</a:t>
            </a:r>
            <a:r>
              <a:rPr lang="es-MX" dirty="0">
                <a:solidFill>
                  <a:schemeClr val="dk1"/>
                </a:solidFill>
              </a:rPr>
              <a:t>: permite crear una interfaz interactiva para dibujar, seleccionar, mover y modificar piezas de muebles visualmente.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dirty="0">
                <a:solidFill>
                  <a:schemeClr val="dk1"/>
                </a:solidFill>
              </a:rPr>
              <a:t>- Validación geométrica: se incorporan mecanismos para verificar dimensiones y detectar colisiones o proximidad, ayudando a prevenir errores durante el diseño.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dirty="0">
                <a:solidFill>
                  <a:schemeClr val="dk1"/>
                </a:solidFill>
              </a:rPr>
              <a:t>- Persistencia futura: se contempla SQLite para guardar y recuperar proyectos, aunque su implementación está pendiente.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Interfaz gráfica</a:t>
            </a:r>
            <a:r>
              <a:rPr lang="es-MX" sz="3400" b="1" dirty="0">
                <a:solidFill>
                  <a:srgbClr val="0B1B2E"/>
                </a:solidFill>
              </a:rPr>
              <a:t>:</a:t>
            </a: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3400" b="1" dirty="0">
                <a:solidFill>
                  <a:srgbClr val="0B1B2E"/>
                </a:solidFill>
              </a:rPr>
              <a:t>Demostración de funcionalidades </a:t>
            </a:r>
            <a:endParaRPr lang="es-MX" dirty="0"/>
          </a:p>
        </p:txBody>
      </p:sp>
      <p:sp>
        <p:nvSpPr>
          <p:cNvPr id="467" name="Google Shape;467;p14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04 · IMPLEMENTACIÓN Y EVIDENCIAS</a:t>
            </a:r>
            <a:endParaRPr lang="es-MX" dirty="0"/>
          </a:p>
        </p:txBody>
      </p:sp>
      <p:sp>
        <p:nvSpPr>
          <p:cNvPr id="468" name="Google Shape;468;p14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469" name="Google Shape;469;p14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s-MX" dirty="0"/>
          </a:p>
        </p:txBody>
      </p:sp>
      <p:pic>
        <p:nvPicPr>
          <p:cNvPr id="470" name="Google Shape;470;p14" title="Gemini_Generated_Image_8zpe2x8zpe2x8zp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950" y="1613850"/>
            <a:ext cx="2757075" cy="15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4" title="Captura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0025" y="1524000"/>
            <a:ext cx="3262224" cy="172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14" title="Captura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75275" y="1568925"/>
            <a:ext cx="3087741" cy="16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4"/>
          <p:cNvSpPr txBox="1"/>
          <p:nvPr/>
        </p:nvSpPr>
        <p:spPr>
          <a:xfrm>
            <a:off x="738125" y="3012075"/>
            <a:ext cx="3087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usuario tiene una idea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 que quiere hacer</a:t>
            </a:r>
          </a:p>
        </p:txBody>
      </p:sp>
      <p:sp>
        <p:nvSpPr>
          <p:cNvPr id="474" name="Google Shape;474;p14"/>
          <p:cNvSpPr txBox="1"/>
          <p:nvPr/>
        </p:nvSpPr>
        <p:spPr>
          <a:xfrm>
            <a:off x="3826025" y="3228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2. Inicia el software con dos piezas</a:t>
            </a:r>
          </a:p>
        </p:txBody>
      </p:sp>
      <p:sp>
        <p:nvSpPr>
          <p:cNvPr id="475" name="Google Shape;475;p14"/>
          <p:cNvSpPr txBox="1"/>
          <p:nvPr/>
        </p:nvSpPr>
        <p:spPr>
          <a:xfrm>
            <a:off x="7492250" y="3228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3. elimina la que no desea</a:t>
            </a:r>
          </a:p>
        </p:txBody>
      </p:sp>
      <p:pic>
        <p:nvPicPr>
          <p:cNvPr id="476" name="Google Shape;476;p14" title="Captura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16825" y="3895575"/>
            <a:ext cx="2833570" cy="15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14" title="Captur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8825" y="3852917"/>
            <a:ext cx="3000001" cy="158915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4"/>
          <p:cNvSpPr txBox="1"/>
          <p:nvPr/>
        </p:nvSpPr>
        <p:spPr>
          <a:xfrm>
            <a:off x="1562800" y="5486400"/>
            <a:ext cx="337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4. modifica la pieza y aplica cambios</a:t>
            </a:r>
          </a:p>
        </p:txBody>
      </p:sp>
      <p:sp>
        <p:nvSpPr>
          <p:cNvPr id="479" name="Google Shape;479;p14"/>
          <p:cNvSpPr txBox="1"/>
          <p:nvPr/>
        </p:nvSpPr>
        <p:spPr>
          <a:xfrm>
            <a:off x="5830750" y="5561175"/>
            <a:ext cx="446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5. crea mas piezas de distintas medidas y las conecta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5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Repositorio GitHub y README</a:t>
            </a:r>
            <a:endParaRPr lang="es-MX" dirty="0"/>
          </a:p>
        </p:txBody>
      </p:sp>
      <p:sp>
        <p:nvSpPr>
          <p:cNvPr id="485" name="Google Shape;485;p15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04 · IMPLEMENTACIÓN Y EVIDENCIAS</a:t>
            </a:r>
            <a:endParaRPr lang="es-MX" dirty="0"/>
          </a:p>
        </p:txBody>
      </p:sp>
      <p:sp>
        <p:nvSpPr>
          <p:cNvPr id="486" name="Google Shape;486;p15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1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[Dónde está el código y cómo se documenta]</a:t>
            </a:r>
            <a:endParaRPr lang="es-MX" dirty="0"/>
          </a:p>
        </p:txBody>
      </p:sp>
      <p:sp>
        <p:nvSpPr>
          <p:cNvPr id="487" name="Google Shape;487;p15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488" name="Google Shape;488;p15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s-MX" dirty="0"/>
          </a:p>
        </p:txBody>
      </p:sp>
      <p:sp>
        <p:nvSpPr>
          <p:cNvPr id="489" name="Google Shape;489;p15"/>
          <p:cNvSpPr/>
          <p:nvPr/>
        </p:nvSpPr>
        <p:spPr>
          <a:xfrm>
            <a:off x="640080" y="224028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 txBox="1"/>
          <p:nvPr/>
        </p:nvSpPr>
        <p:spPr>
          <a:xfrm>
            <a:off x="914400" y="2468880"/>
            <a:ext cx="47550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D6FEA"/>
              </a:buClr>
              <a:buSzPts val="1800"/>
              <a:buFont typeface="Arial"/>
              <a:buChar char="•"/>
            </a:pPr>
            <a:r>
              <a:rPr lang="es-MX" sz="18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Repositorio: </a:t>
            </a:r>
            <a:r>
              <a:rPr lang="es-MX" sz="18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https://github.com/ParisBit/Maipu_Aldo_Martinez_006D_Tara_Martinez.git</a:t>
            </a:r>
            <a:endParaRPr lang="es-MX" dirty="0"/>
          </a:p>
          <a:p>
            <a:pPr marL="45720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491" name="Google Shape;491;p15"/>
          <p:cNvSpPr/>
          <p:nvPr/>
        </p:nvSpPr>
        <p:spPr>
          <a:xfrm>
            <a:off x="6309360" y="2240280"/>
            <a:ext cx="5242255" cy="384048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[Insertar imagen]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Captura de la página del repositorio</a:t>
            </a:r>
            <a:endParaRPr lang="es-MX" dirty="0"/>
          </a:p>
        </p:txBody>
      </p:sp>
      <p:cxnSp>
        <p:nvCxnSpPr>
          <p:cNvPr id="492" name="Google Shape;492;p15"/>
          <p:cNvCxnSpPr/>
          <p:nvPr/>
        </p:nvCxnSpPr>
        <p:spPr>
          <a:xfrm>
            <a:off x="630936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93" name="Google Shape;493;p15"/>
          <p:cNvCxnSpPr/>
          <p:nvPr/>
        </p:nvCxnSpPr>
        <p:spPr>
          <a:xfrm>
            <a:off x="630936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94" name="Google Shape;494;p15"/>
          <p:cNvCxnSpPr/>
          <p:nvPr/>
        </p:nvCxnSpPr>
        <p:spPr>
          <a:xfrm rot="10800000">
            <a:off x="1127729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95" name="Google Shape;495;p15"/>
          <p:cNvCxnSpPr/>
          <p:nvPr/>
        </p:nvCxnSpPr>
        <p:spPr>
          <a:xfrm>
            <a:off x="1155161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96" name="Google Shape;496;p15"/>
          <p:cNvCxnSpPr/>
          <p:nvPr/>
        </p:nvCxnSpPr>
        <p:spPr>
          <a:xfrm>
            <a:off x="630936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97" name="Google Shape;497;p15"/>
          <p:cNvCxnSpPr/>
          <p:nvPr/>
        </p:nvCxnSpPr>
        <p:spPr>
          <a:xfrm rot="10800000">
            <a:off x="630936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98" name="Google Shape;498;p15"/>
          <p:cNvCxnSpPr/>
          <p:nvPr/>
        </p:nvCxnSpPr>
        <p:spPr>
          <a:xfrm rot="10800000">
            <a:off x="1127729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99" name="Google Shape;499;p15"/>
          <p:cNvCxnSpPr/>
          <p:nvPr/>
        </p:nvCxnSpPr>
        <p:spPr>
          <a:xfrm rot="10800000">
            <a:off x="1155161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500" name="Google Shape;500;p15" title="Captura de pantalla 2026-10-12 2354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9350" y="2088213"/>
            <a:ext cx="5419725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B2E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Validaci</a:t>
            </a:r>
            <a:r>
              <a:rPr lang="es-MX" sz="3400" b="1" dirty="0">
                <a:solidFill>
                  <a:srgbClr val="0B1B2E"/>
                </a:solidFill>
              </a:rPr>
              <a:t>ó</a:t>
            </a:r>
            <a:r>
              <a:rPr lang="es-MX" sz="3400" b="1" i="0" dirty="0">
                <a:solidFill>
                  <a:srgbClr val="0B1B2E"/>
                </a:solidFill>
                <a:latin typeface="Calibri"/>
                <a:ea typeface="Calibri"/>
                <a:cs typeface="Calibri"/>
                <a:sym typeface="Calibri"/>
              </a:rPr>
              <a:t>n y resultados</a:t>
            </a:r>
            <a:endParaRPr lang="es-MX" dirty="0"/>
          </a:p>
        </p:txBody>
      </p:sp>
      <p:sp>
        <p:nvSpPr>
          <p:cNvPr id="507" name="Google Shape;507;p17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1D6FEA"/>
                </a:solidFill>
                <a:latin typeface="Calibri"/>
                <a:ea typeface="Calibri"/>
                <a:cs typeface="Calibri"/>
                <a:sym typeface="Calibri"/>
              </a:rPr>
              <a:t>04 · IMPLEMENTACIÓN Y EVIDENCIAS</a:t>
            </a:r>
            <a:endParaRPr lang="es-MX" dirty="0"/>
          </a:p>
        </p:txBody>
      </p:sp>
      <p:sp>
        <p:nvSpPr>
          <p:cNvPr id="508" name="Google Shape;508;p17"/>
          <p:cNvSpPr txBox="1"/>
          <p:nvPr/>
        </p:nvSpPr>
        <p:spPr>
          <a:xfrm>
            <a:off x="640080" y="1417320"/>
            <a:ext cx="1091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Solo se incluye prueba y resultado con evidencia disponible.</a:t>
            </a:r>
            <a:endParaRPr lang="es-MX" dirty="0"/>
          </a:p>
        </p:txBody>
      </p:sp>
      <p:sp>
        <p:nvSpPr>
          <p:cNvPr id="509" name="Google Shape;509;p17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 lang="es-MX" dirty="0"/>
          </a:p>
        </p:txBody>
      </p:sp>
      <p:sp>
        <p:nvSpPr>
          <p:cNvPr id="510" name="Google Shape;510;p17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s-MX" dirty="0"/>
          </a:p>
        </p:txBody>
      </p:sp>
      <p:sp>
        <p:nvSpPr>
          <p:cNvPr id="511" name="Google Shape;511;p17"/>
          <p:cNvSpPr/>
          <p:nvPr/>
        </p:nvSpPr>
        <p:spPr>
          <a:xfrm>
            <a:off x="489080" y="3750330"/>
            <a:ext cx="6675000" cy="115830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 cap="flat" cmpd="sng">
            <a:solidFill>
              <a:srgbClr val="D5DD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 txBox="1"/>
          <p:nvPr/>
        </p:nvSpPr>
        <p:spPr>
          <a:xfrm>
            <a:off x="717680" y="3887490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ValidadorPieza</a:t>
            </a:r>
            <a:r>
              <a:rPr lang="es-MX" sz="1100" dirty="0">
                <a:solidFill>
                  <a:schemeClr val="dk1"/>
                </a:solidFill>
              </a:rPr>
              <a:t> </a:t>
            </a:r>
            <a:endParaRPr lang="es-MX" dirty="0"/>
          </a:p>
        </p:txBody>
      </p:sp>
      <p:sp>
        <p:nvSpPr>
          <p:cNvPr id="513" name="Google Shape;513;p17"/>
          <p:cNvSpPr txBox="1"/>
          <p:nvPr/>
        </p:nvSpPr>
        <p:spPr>
          <a:xfrm>
            <a:off x="2775080" y="3887490"/>
            <a:ext cx="4160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i="1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verifica que acepte piezas válidas y rechace piezas con datos incorrectos </a:t>
            </a:r>
            <a:endParaRPr lang="es-MX" dirty="0"/>
          </a:p>
        </p:txBody>
      </p:sp>
      <p:sp>
        <p:nvSpPr>
          <p:cNvPr id="514" name="Google Shape;514;p17"/>
          <p:cNvSpPr/>
          <p:nvPr/>
        </p:nvSpPr>
        <p:spPr>
          <a:xfrm>
            <a:off x="7635240" y="2240280"/>
            <a:ext cx="3916375" cy="384048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94A3B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[Insertar imagen]</a:t>
            </a:r>
            <a:endParaRPr lang="es-MX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rgbClr val="5B6B80"/>
                </a:solidFill>
                <a:latin typeface="Calibri"/>
                <a:ea typeface="Calibri"/>
                <a:cs typeface="Calibri"/>
                <a:sym typeface="Calibri"/>
              </a:rPr>
              <a:t>Captura de pruebas o resultados</a:t>
            </a:r>
            <a:endParaRPr lang="es-MX" dirty="0"/>
          </a:p>
        </p:txBody>
      </p:sp>
      <p:cxnSp>
        <p:nvCxnSpPr>
          <p:cNvPr id="515" name="Google Shape;515;p17"/>
          <p:cNvCxnSpPr/>
          <p:nvPr/>
        </p:nvCxnSpPr>
        <p:spPr>
          <a:xfrm>
            <a:off x="7635240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16" name="Google Shape;516;p17"/>
          <p:cNvCxnSpPr/>
          <p:nvPr/>
        </p:nvCxnSpPr>
        <p:spPr>
          <a:xfrm>
            <a:off x="7635240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17" name="Google Shape;517;p17"/>
          <p:cNvCxnSpPr/>
          <p:nvPr/>
        </p:nvCxnSpPr>
        <p:spPr>
          <a:xfrm rot="10800000">
            <a:off x="11277295" y="224028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18" name="Google Shape;518;p17"/>
          <p:cNvCxnSpPr/>
          <p:nvPr/>
        </p:nvCxnSpPr>
        <p:spPr>
          <a:xfrm>
            <a:off x="11551615" y="224028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19" name="Google Shape;519;p17"/>
          <p:cNvCxnSpPr/>
          <p:nvPr/>
        </p:nvCxnSpPr>
        <p:spPr>
          <a:xfrm>
            <a:off x="7635240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20" name="Google Shape;520;p17"/>
          <p:cNvCxnSpPr/>
          <p:nvPr/>
        </p:nvCxnSpPr>
        <p:spPr>
          <a:xfrm rot="10800000">
            <a:off x="7635240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21" name="Google Shape;521;p17"/>
          <p:cNvCxnSpPr/>
          <p:nvPr/>
        </p:nvCxnSpPr>
        <p:spPr>
          <a:xfrm rot="10800000">
            <a:off x="11277295" y="6080760"/>
            <a:ext cx="274320" cy="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22" name="Google Shape;522;p17"/>
          <p:cNvCxnSpPr/>
          <p:nvPr/>
        </p:nvCxnSpPr>
        <p:spPr>
          <a:xfrm rot="10800000">
            <a:off x="11551615" y="5806440"/>
            <a:ext cx="0" cy="274320"/>
          </a:xfrm>
          <a:prstGeom prst="straightConnector1">
            <a:avLst/>
          </a:prstGeom>
          <a:noFill/>
          <a:ln w="28575" cap="flat" cmpd="sng">
            <a:solidFill>
              <a:srgbClr val="1D6F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pic>
        <p:nvPicPr>
          <p:cNvPr id="523" name="Google Shape;523;p17" title="Captura de pantalla 2026-10-12 2351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7084" y="2647450"/>
            <a:ext cx="4612703" cy="305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8"/>
          <p:cNvSpPr txBox="1">
            <a:spLocks noGrp="1"/>
          </p:cNvSpPr>
          <p:nvPr>
            <p:ph type="title"/>
          </p:nvPr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s-MX" sz="34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lang="es-MX" dirty="0"/>
          </a:p>
        </p:txBody>
      </p:sp>
      <p:sp>
        <p:nvSpPr>
          <p:cNvPr id="529" name="Google Shape;529;p18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05 · CIERRE</a:t>
            </a:r>
            <a:endParaRPr lang="es-MX" dirty="0"/>
          </a:p>
        </p:txBody>
      </p:sp>
      <p:sp>
        <p:nvSpPr>
          <p:cNvPr id="530" name="Google Shape;530;p18"/>
          <p:cNvSpPr txBox="1"/>
          <p:nvPr/>
        </p:nvSpPr>
        <p:spPr>
          <a:xfrm>
            <a:off x="640080" y="1417320"/>
            <a:ext cx="1091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i="1" dirty="0" err="1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 facilita el diseño visual de muebles mediante herramientas interactivas que permiten organizar y validar sus piezas. </a:t>
            </a:r>
            <a:endParaRPr lang="es-MX" dirty="0"/>
          </a:p>
        </p:txBody>
      </p:sp>
      <p:sp>
        <p:nvSpPr>
          <p:cNvPr id="531" name="Google Shape;531;p18"/>
          <p:cNvSpPr txBox="1"/>
          <p:nvPr/>
        </p:nvSpPr>
        <p:spPr>
          <a:xfrm>
            <a:off x="640080" y="638251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u="none" strike="noStrike" cap="none" dirty="0" err="1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MuebleDesigner</a:t>
            </a:r>
            <a:r>
              <a:rPr lang="es-MX" sz="1000" b="0" i="0" u="none" strike="noStrike" cap="none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s-MX" sz="1000" dirty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</a:p>
        </p:txBody>
      </p:sp>
      <p:sp>
        <p:nvSpPr>
          <p:cNvPr id="532" name="Google Shape;532;p18"/>
          <p:cNvSpPr txBox="1"/>
          <p:nvPr/>
        </p:nvSpPr>
        <p:spPr>
          <a:xfrm>
            <a:off x="10637215" y="6382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000" b="0" i="0" u="none" strike="noStrike" cap="none" smtClean="0">
                <a:solidFill>
                  <a:srgbClr val="8FA6BF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s-MX" dirty="0"/>
          </a:p>
        </p:txBody>
      </p:sp>
      <p:sp>
        <p:nvSpPr>
          <p:cNvPr id="533" name="Google Shape;533;p18"/>
          <p:cNvSpPr txBox="1"/>
          <p:nvPr/>
        </p:nvSpPr>
        <p:spPr>
          <a:xfrm>
            <a:off x="640080" y="22402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s-MX" dirty="0"/>
          </a:p>
        </p:txBody>
      </p:sp>
      <p:sp>
        <p:nvSpPr>
          <p:cNvPr id="534" name="Google Shape;534;p18"/>
          <p:cNvSpPr txBox="1"/>
          <p:nvPr/>
        </p:nvSpPr>
        <p:spPr>
          <a:xfrm>
            <a:off x="1463040" y="2286000"/>
            <a:ext cx="5486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Logro principal: Se desarrolló una aplicación que permite crear, mover, modificar y eliminar piezas, además de gestionar conexiones y detectar colisiones </a:t>
            </a:r>
            <a:endParaRPr lang="es-MX" dirty="0"/>
          </a:p>
        </p:txBody>
      </p:sp>
      <p:sp>
        <p:nvSpPr>
          <p:cNvPr id="535" name="Google Shape;535;p18"/>
          <p:cNvSpPr txBox="1"/>
          <p:nvPr/>
        </p:nvSpPr>
        <p:spPr>
          <a:xfrm>
            <a:off x="640080" y="35204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s-MX" dirty="0"/>
          </a:p>
        </p:txBody>
      </p:sp>
      <p:sp>
        <p:nvSpPr>
          <p:cNvPr id="536" name="Google Shape;536;p18"/>
          <p:cNvSpPr txBox="1"/>
          <p:nvPr/>
        </p:nvSpPr>
        <p:spPr>
          <a:xfrm>
            <a:off x="1463040" y="3566160"/>
            <a:ext cx="5486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Aporte técnico: Se organizó el código en componentes con responsabilidades específicas, integrando geometría, validaciones y una interfaz gráfica interactiva.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 txBox="1"/>
          <p:nvPr/>
        </p:nvSpPr>
        <p:spPr>
          <a:xfrm>
            <a:off x="640080" y="48006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s-MX" dirty="0"/>
          </a:p>
        </p:txBody>
      </p:sp>
      <p:sp>
        <p:nvSpPr>
          <p:cNvPr id="538" name="Google Shape;538;p18"/>
          <p:cNvSpPr txBox="1"/>
          <p:nvPr/>
        </p:nvSpPr>
        <p:spPr>
          <a:xfrm>
            <a:off x="1463040" y="4846320"/>
            <a:ext cx="5486400" cy="13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800" i="1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Mejoras futuras: Se proyecta incorporar SQLite para guardar y recuperar diseños, junto con nuevas herramientas de visualización y opciones de diseño.</a:t>
            </a: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s-MX" sz="1800" i="1" dirty="0">
              <a:solidFill>
                <a:srgbClr val="DCE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7589525" y="2240275"/>
            <a:ext cx="2169900" cy="2011200"/>
          </a:xfrm>
          <a:prstGeom prst="roundRect">
            <a:avLst>
              <a:gd name="adj" fmla="val 2857"/>
            </a:avLst>
          </a:prstGeom>
          <a:solidFill>
            <a:srgbClr val="132A44"/>
          </a:solidFill>
          <a:ln w="12700" cap="flat" cmpd="sng">
            <a:solidFill>
              <a:srgbClr val="2341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 txBox="1"/>
          <p:nvPr/>
        </p:nvSpPr>
        <p:spPr>
          <a:xfrm>
            <a:off x="7909560" y="2468880"/>
            <a:ext cx="33220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lang="es-MX" dirty="0"/>
          </a:p>
        </p:txBody>
      </p:sp>
      <p:sp>
        <p:nvSpPr>
          <p:cNvPr id="541" name="Google Shape;541;p18"/>
          <p:cNvSpPr txBox="1"/>
          <p:nvPr/>
        </p:nvSpPr>
        <p:spPr>
          <a:xfrm>
            <a:off x="7836430" y="3200395"/>
            <a:ext cx="16761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none" strike="noStrike" cap="none" dirty="0">
                <a:solidFill>
                  <a:srgbClr val="DCE6F2"/>
                </a:solidFill>
                <a:latin typeface="Calibri"/>
                <a:ea typeface="Calibri"/>
                <a:cs typeface="Calibri"/>
                <a:sym typeface="Calibri"/>
              </a:rPr>
              <a:t>Repositorio</a:t>
            </a:r>
            <a:endParaRPr lang="es-MX"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s-MX" sz="1400" b="0" i="1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[URL del repositorio]</a:t>
            </a:r>
            <a:endParaRPr lang="es-MX"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lang="es-MX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1978</Words>
  <Application>Microsoft Office PowerPoint</Application>
  <PresentationFormat>Panorámica</PresentationFormat>
  <Paragraphs>303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Roboto Mono</vt:lpstr>
      <vt:lpstr>Calibri</vt:lpstr>
      <vt:lpstr>Office Theme</vt:lpstr>
      <vt:lpstr>MuebleDesign</vt:lpstr>
      <vt:lpstr>Ruta de la presentación</vt:lpstr>
      <vt:lpstr>Introducción y descripción del proyecto</vt:lpstr>
      <vt:lpstr>Problema identificado y necesidad</vt:lpstr>
      <vt:lpstr>Objetivos del proyecto</vt:lpstr>
      <vt:lpstr>Propuesta de solución</vt:lpstr>
      <vt:lpstr>Funcionalidades principales verificadas</vt:lpstr>
      <vt:lpstr>Innovación y elementos diferenciadores</vt:lpstr>
      <vt:lpstr>Tecnologías y herramientas</vt:lpstr>
      <vt:lpstr>Mapa tecnológico  </vt:lpstr>
      <vt:lpstr>Diagrama de componentes </vt:lpstr>
      <vt:lpstr>Diagrama Modelo de datos </vt:lpstr>
      <vt:lpstr>Diagrama Comunicación entre servicios  ¿Es necesario?   Motivo </vt:lpstr>
      <vt:lpstr>Arquitectura general del software</vt:lpstr>
      <vt:lpstr>Casos de Uso </vt:lpstr>
      <vt:lpstr>Diagrama de clases</vt:lpstr>
      <vt:lpstr>Diagrama de clases</vt:lpstr>
      <vt:lpstr>Diagrama de clases</vt:lpstr>
      <vt:lpstr>Diagrama de secuencia de funcionalidad (crear una pieza)</vt:lpstr>
      <vt:lpstr>Diagrama de secuencia de funcionalidad  (mover una pieza y detectar proximidad )</vt:lpstr>
      <vt:lpstr>Implementación y decisiones técnicas</vt:lpstr>
      <vt:lpstr>Interfaz gráfica: Demostración de funcionalidades </vt:lpstr>
      <vt:lpstr>Repositorio GitHub y README</vt:lpstr>
      <vt:lpstr>Validación y resultados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PARIS FABIAN ANDREAS MARTINEZ PALOMERA</cp:lastModifiedBy>
  <cp:revision>2</cp:revision>
  <dcterms:created xsi:type="dcterms:W3CDTF">2013-01-27T09:14:16Z</dcterms:created>
  <dcterms:modified xsi:type="dcterms:W3CDTF">2026-10-13T13:10:44Z</dcterms:modified>
</cp:coreProperties>
</file>